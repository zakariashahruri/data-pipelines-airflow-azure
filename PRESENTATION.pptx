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jp8RYv9ih/6s7Z8xdyCTK72xPS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Final Gold</c:v>
                </c:pt>
              </c:strCache>
            </c:strRef>
          </c:tx>
          <c:spPr>
            <a:solidFill>
              <a:srgbClr val="16A34A"/>
            </a:solidFill>
          </c:spPr>
          <c:cat>
            <c:strRef>
              <c:f>Sheet1!$A$2:$A$2</c:f>
              <c:strCache>
                <c:ptCount val="1"/>
                <c:pt idx="0">
                  <c:v>NYC Taxi — Jan 2025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3326500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Rejected — Primary Validation</c:v>
                </c:pt>
              </c:strCache>
            </c:strRef>
          </c:tx>
          <c:spPr>
            <a:solidFill>
              <a:srgbClr val="DC2626"/>
            </a:solidFill>
          </c:spPr>
          <c:cat>
            <c:strRef>
              <c:f>Sheet1!$A$2:$A$2</c:f>
              <c:strCache>
                <c:ptCount val="1"/>
                <c:pt idx="0">
                  <c:v>NYC Taxi — Jan 2025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148302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Rejected — Back-up Validation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Sheet1!$A$2:$A$2</c:f>
              <c:strCache>
                <c:ptCount val="1"/>
                <c:pt idx="0">
                  <c:v>NYC Taxi — Jan 2025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424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8961120" y="-1097280"/>
            <a:ext cx="4572000" cy="4572000"/>
          </a:xfrm>
          <a:prstGeom prst="ellipse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0241280" y="4389120"/>
            <a:ext cx="2926080" cy="2926080"/>
          </a:xfrm>
          <a:prstGeom prst="ellipse">
            <a:avLst/>
          </a:prstGeom>
          <a:solidFill>
            <a:srgbClr val="1625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1625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ENGINEERING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640080" y="3090672"/>
            <a:ext cx="3474720" cy="64008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Real-World Pipelines with Apache Airflow &amp; Azure Blob Storage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640080" y="3886200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Salina Giri ,</a:t>
            </a:r>
            <a:r>
              <a:rPr lang="en-US">
                <a:solidFill>
                  <a:srgbClr val="64748B"/>
                </a:solidFill>
              </a:rPr>
              <a:t> Zakaria Shahruri</a:t>
            </a: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·  Year 2 — Data Engineering  ·  5 May 2026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640080" y="4800600"/>
            <a:ext cx="3246120" cy="530352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4864608"/>
            <a:ext cx="2971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BATCH PROCESSING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4206240" y="4800600"/>
            <a:ext cx="3246120" cy="530352"/>
          </a:xfrm>
          <a:prstGeom prst="roundRect">
            <a:avLst>
              <a:gd fmla="val 16667" name="adj"/>
            </a:avLst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4343400" y="4864608"/>
            <a:ext cx="2971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REAL-TIME PROCESSING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320040" y="73152"/>
            <a:ext cx="11430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320040" y="603504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Two independent pipelines — same architecture, different triggers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320040" y="6556248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Salina Giri</a:t>
            </a:r>
            <a:r>
              <a:rPr lang="en-US" sz="900">
                <a:solidFill>
                  <a:srgbClr val="93C5FD"/>
                </a:solidFill>
              </a:rPr>
              <a:t>, </a:t>
            </a:r>
            <a:r>
              <a:rPr lang="en-US" sz="900">
                <a:solidFill>
                  <a:srgbClr val="93C5FD"/>
                </a:solidFill>
              </a:rPr>
              <a:t>Zakaria Shahruri </a:t>
            </a:r>
            <a:r>
              <a:rPr b="0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·  Data Engineering  ·  Year 2 Semester 2  ·  5 May 2026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0" y="960120"/>
            <a:ext cx="12188952" cy="457200"/>
          </a:xfrm>
          <a:prstGeom prst="rect">
            <a:avLst/>
          </a:prstGeom>
          <a:solidFill>
            <a:srgbClr val="EFF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365760" y="1024128"/>
            <a:ext cx="11430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Reader   ▶   Validator   ▶   Processor   ▶   Back-up Validator   ▶   Writer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274320" y="1536192"/>
            <a:ext cx="5440680" cy="4709160"/>
          </a:xfrm>
          <a:prstGeom prst="roundRect">
            <a:avLst>
              <a:gd fmla="val 16667" name="adj"/>
            </a:avLst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502920" y="164592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502920" y="1920240"/>
            <a:ext cx="5029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Batch Processing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274320" y="2514600"/>
            <a:ext cx="544068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502920" y="2633472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Dataset: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2057400" y="2633472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NYC Yellow Taxi — January 2025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502920" y="2980944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Volume: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2057400" y="2980944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~3.4 million rows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502920" y="3328415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Format: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2057400" y="3328415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Apache Parquet (.parquet)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502920" y="3675887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Trigger: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2057400" y="3675887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Scheduled — 5 May 2026 (defence date)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502920" y="4023359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2057400" y="4023359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processed_taxi_data.parquet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502920" y="4370831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Cloud: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2057400" y="4370831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Azure container: taxiproject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6492240" y="1536192"/>
            <a:ext cx="5440680" cy="4709160"/>
          </a:xfrm>
          <a:prstGeom prst="roundRect">
            <a:avLst>
              <a:gd fmla="val 16667" name="adj"/>
            </a:avLst>
          </a:prstGeom>
          <a:solidFill>
            <a:srgbClr val="004D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6720840" y="164592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7E8F9"/>
                </a:solidFill>
                <a:latin typeface="Arial"/>
                <a:ea typeface="Arial"/>
                <a:cs typeface="Arial"/>
                <a:sym typeface="Arial"/>
              </a:rPr>
              <a:t>PART 2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6720840" y="1920240"/>
            <a:ext cx="5029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Real-Time Processing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6492240" y="2514600"/>
            <a:ext cx="5440680" cy="41148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6720840" y="2633472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7E8F9"/>
                </a:solidFill>
                <a:latin typeface="Arial"/>
                <a:ea typeface="Arial"/>
                <a:cs typeface="Arial"/>
                <a:sym typeface="Arial"/>
              </a:rPr>
              <a:t>Dataset: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8229600" y="2633472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Retail Inventory — Store Sales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6720840" y="2980944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7E8F9"/>
                </a:solidFill>
                <a:latin typeface="Arial"/>
                <a:ea typeface="Arial"/>
                <a:cs typeface="Arial"/>
                <a:sym typeface="Arial"/>
              </a:rPr>
              <a:t>Volume: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8229600" y="2980944"/>
            <a:ext cx="3383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100">
                <a:solidFill>
                  <a:srgbClr val="FFFFFF"/>
                </a:solidFill>
              </a:rPr>
              <a:t>50</a:t>
            </a: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rows · 11 columns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6720840" y="3328415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7E8F9"/>
                </a:solidFill>
                <a:latin typeface="Arial"/>
                <a:ea typeface="Arial"/>
                <a:cs typeface="Arial"/>
                <a:sym typeface="Arial"/>
              </a:rPr>
              <a:t>Format: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8229600" y="3328415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CSV / XLSX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6720840" y="3675887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7E8F9"/>
                </a:solidFill>
                <a:latin typeface="Arial"/>
                <a:ea typeface="Arial"/>
                <a:cs typeface="Arial"/>
                <a:sym typeface="Arial"/>
              </a:rPr>
              <a:t>Trigger: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8229600" y="3675887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File drop into input_zone/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6720840" y="4023359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7E8F9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8229600" y="4023359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&lt;filename&gt;_processed.csv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6720840" y="4370831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7E8F9"/>
                </a:solidFill>
                <a:latin typeface="Arial"/>
                <a:ea typeface="Arial"/>
                <a:cs typeface="Arial"/>
                <a:sym typeface="Arial"/>
              </a:rPr>
              <a:t>Cloud: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8229600" y="4370831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Azure container: inventory-output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5897880" y="356616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320040" y="73152"/>
            <a:ext cx="11430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Pipeline Architecture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320040" y="603504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5-stage pattern — same design for both parts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320040" y="6556248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Salina Giri  , </a:t>
            </a:r>
            <a:r>
              <a:rPr lang="en-US" sz="900">
                <a:solidFill>
                  <a:srgbClr val="93C5FD"/>
                </a:solidFill>
              </a:rPr>
              <a:t>Zakaria Shahruri </a:t>
            </a:r>
            <a:r>
              <a:rPr b="0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·  Data Engineering  ·  Year 2 Semester 2  ·  5 May 2026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256032" y="1051560"/>
            <a:ext cx="2084831" cy="164592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347472" y="1143000"/>
            <a:ext cx="384048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356616" y="1152144"/>
            <a:ext cx="365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365760" y="1600200"/>
            <a:ext cx="187451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Reader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365760" y="2020824"/>
            <a:ext cx="186537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Loads raw data</a:t>
            </a:r>
            <a:br>
              <a:rPr b="0" i="0" lang="en-US" sz="1000" u="none" cap="none" strike="noStrike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into DataFrame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2359151" y="1737360"/>
            <a:ext cx="201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2551176" y="1051560"/>
            <a:ext cx="2084831" cy="1645920"/>
          </a:xfrm>
          <a:prstGeom prst="roundRect">
            <a:avLst>
              <a:gd fmla="val 16667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2642616" y="1143000"/>
            <a:ext cx="384048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2651760" y="1152144"/>
            <a:ext cx="365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2660904" y="1600200"/>
            <a:ext cx="187451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Validator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2660904" y="2020824"/>
            <a:ext cx="186537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Enforces rules</a:t>
            </a:r>
            <a:br>
              <a:rPr b="0" i="0" lang="en-US" sz="1000" u="none" cap="none" strike="noStrike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per column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4654296" y="1737360"/>
            <a:ext cx="201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4846320" y="1051560"/>
            <a:ext cx="2084831" cy="1645920"/>
          </a:xfrm>
          <a:prstGeom prst="roundRect">
            <a:avLst>
              <a:gd fmla="val 16667" name="adj"/>
            </a:avLst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4937759" y="1143000"/>
            <a:ext cx="384048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4946904" y="1152144"/>
            <a:ext cx="365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4956048" y="1600200"/>
            <a:ext cx="187451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Processor</a:t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4956048" y="2020824"/>
            <a:ext cx="186537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Removes cols</a:t>
            </a:r>
            <a:br>
              <a:rPr b="0" i="0" lang="en-US" sz="1000" u="none" cap="none" strike="noStrike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engineers features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6949440" y="1737360"/>
            <a:ext cx="201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7141464" y="1051560"/>
            <a:ext cx="2084831" cy="1645920"/>
          </a:xfrm>
          <a:prstGeom prst="roundRect">
            <a:avLst>
              <a:gd fmla="val 16667" name="adj"/>
            </a:avLst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7232903" y="1143000"/>
            <a:ext cx="384048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7242048" y="1152144"/>
            <a:ext cx="365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70" name="Google Shape;170;p3"/>
          <p:cNvSpPr txBox="1"/>
          <p:nvPr/>
        </p:nvSpPr>
        <p:spPr>
          <a:xfrm>
            <a:off x="7251192" y="1600200"/>
            <a:ext cx="187451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Back-up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Validator</a:t>
            </a:r>
            <a:endParaRPr/>
          </a:p>
        </p:txBody>
      </p:sp>
      <p:sp>
        <p:nvSpPr>
          <p:cNvPr id="171" name="Google Shape;171;p3"/>
          <p:cNvSpPr txBox="1"/>
          <p:nvPr/>
        </p:nvSpPr>
        <p:spPr>
          <a:xfrm>
            <a:off x="7251192" y="2020824"/>
            <a:ext cx="186537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Sanity-checks</a:t>
            </a:r>
            <a:br>
              <a:rPr b="0" i="0" lang="en-US" sz="1000" u="none" cap="none" strike="noStrike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computed columns</a:t>
            </a:r>
            <a:endParaRPr/>
          </a:p>
        </p:txBody>
      </p:sp>
      <p:sp>
        <p:nvSpPr>
          <p:cNvPr id="172" name="Google Shape;172;p3"/>
          <p:cNvSpPr txBox="1"/>
          <p:nvPr/>
        </p:nvSpPr>
        <p:spPr>
          <a:xfrm>
            <a:off x="9244584" y="1737360"/>
            <a:ext cx="201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9436607" y="1051560"/>
            <a:ext cx="2084831" cy="1645920"/>
          </a:xfrm>
          <a:prstGeom prst="roundRect">
            <a:avLst>
              <a:gd fmla="val 16667" name="adj"/>
            </a:avLst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9528047" y="1143000"/>
            <a:ext cx="384048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9537191" y="1152144"/>
            <a:ext cx="365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76" name="Google Shape;176;p3"/>
          <p:cNvSpPr txBox="1"/>
          <p:nvPr/>
        </p:nvSpPr>
        <p:spPr>
          <a:xfrm>
            <a:off x="9546335" y="1600200"/>
            <a:ext cx="187451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Writer</a:t>
            </a:r>
            <a:endParaRPr/>
          </a:p>
        </p:txBody>
      </p:sp>
      <p:sp>
        <p:nvSpPr>
          <p:cNvPr id="177" name="Google Shape;177;p3"/>
          <p:cNvSpPr txBox="1"/>
          <p:nvPr/>
        </p:nvSpPr>
        <p:spPr>
          <a:xfrm>
            <a:off x="9546335" y="2020824"/>
            <a:ext cx="186537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Saves locally</a:t>
            </a:r>
            <a:br>
              <a:rPr b="0" i="0" lang="en-US" sz="1000" u="none" cap="none" strike="noStrike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+ uploads Azure</a:t>
            </a: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256032" y="2880360"/>
            <a:ext cx="11676888" cy="3310128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256032" y="2880360"/>
            <a:ext cx="5669280" cy="384048"/>
          </a:xfrm>
          <a:prstGeom prst="roundRect">
            <a:avLst>
              <a:gd fmla="val 16667" name="adj"/>
            </a:avLst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457200" y="294436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1 — Batch (NYC Taxi)</a:t>
            </a: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6263640" y="2880360"/>
            <a:ext cx="5669280" cy="384048"/>
          </a:xfrm>
          <a:prstGeom prst="roundRect">
            <a:avLst>
              <a:gd fmla="val 16667" name="adj"/>
            </a:avLst>
          </a:prstGeom>
          <a:solidFill>
            <a:srgbClr val="004D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6446520" y="294436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2 — Real-Time (Inventory)</a:t>
            </a:r>
            <a:endParaRPr/>
          </a:p>
        </p:txBody>
      </p:sp>
      <p:sp>
        <p:nvSpPr>
          <p:cNvPr id="183" name="Google Shape;183;p3"/>
          <p:cNvSpPr txBox="1"/>
          <p:nvPr/>
        </p:nvSpPr>
        <p:spPr>
          <a:xfrm>
            <a:off x="457200" y="3337560"/>
            <a:ext cx="54864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Input: yellow_tripdata_2025-01.parquet  (~3.4M rows)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Validator: 9 mandatory + 7 optional columns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Processor: removes 3 cols, adds 8 features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Back-up: speed ≤ 100 mph, duration &gt; 0, no Inf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Writer: .parquet + rejected CSVs + Azure upload</a:t>
            </a:r>
            <a:endParaRPr/>
          </a:p>
        </p:txBody>
      </p:sp>
      <p:sp>
        <p:nvSpPr>
          <p:cNvPr id="184" name="Google Shape;184;p3"/>
          <p:cNvSpPr txBox="1"/>
          <p:nvPr/>
        </p:nvSpPr>
        <p:spPr>
          <a:xfrm>
            <a:off x="6446520" y="3337560"/>
            <a:ext cx="53949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Input: inventory_data.csv from input_zone/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Validator: 11-column rules (7 mandatory, 4 non-mandatory)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Processor: removes duplicates, adds 5 features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Back-up: schema = 16 cols, no neg. VAT, date logic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Writer: .csv + archive step + Azure upload</a:t>
            </a:r>
            <a:endParaRPr/>
          </a:p>
        </p:txBody>
      </p:sp>
      <p:sp>
        <p:nvSpPr>
          <p:cNvPr id="185" name="Google Shape;185;p3"/>
          <p:cNvSpPr/>
          <p:nvPr/>
        </p:nvSpPr>
        <p:spPr>
          <a:xfrm>
            <a:off x="6053328" y="2971800"/>
            <a:ext cx="45720" cy="30632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320040" y="73152"/>
            <a:ext cx="11430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 — Reader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320040" y="603504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Entry point of both pipelines · loads raw data into a Pandas DataFrame</a:t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0" y="960120"/>
            <a:ext cx="12188952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365760" y="1024128"/>
            <a:ext cx="11430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the Reader does — and why it matters</a:t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320040" y="6556248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Salina Giri  , </a:t>
            </a:r>
            <a:r>
              <a:rPr lang="en-US" sz="900">
                <a:solidFill>
                  <a:srgbClr val="93C5FD"/>
                </a:solidFill>
              </a:rPr>
              <a:t>Zakaria Shahruri </a:t>
            </a:r>
            <a:r>
              <a:rPr b="0" i="0"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·  Data Engineering  ·  Year 2 Semester 2  ·  5 May 2026</a:t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274320" y="1517320"/>
            <a:ext cx="5682996" cy="496064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274320" y="1517320"/>
            <a:ext cx="5682996" cy="300000"/>
          </a:xfrm>
          <a:prstGeom prst="roundRect">
            <a:avLst>
              <a:gd fmla="val 1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365760" y="1577320"/>
            <a:ext cx="5500116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 — Batch  (NYC Taxi)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365760" y="1877320"/>
            <a:ext cx="550011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Source file: yellow_tripdata_2025-01.parquet</a:t>
            </a:r>
            <a:endParaRPr/>
          </a:p>
        </p:txBody>
      </p:sp>
      <p:sp>
        <p:nvSpPr>
          <p:cNvPr id="201" name="Google Shape;201;p4"/>
          <p:cNvSpPr txBox="1"/>
          <p:nvPr/>
        </p:nvSpPr>
        <p:spPr>
          <a:xfrm>
            <a:off x="365760" y="2062320"/>
            <a:ext cx="550011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~3.4 million rows loaded in one shot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365760" y="2247320"/>
            <a:ext cx="550011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Returns a Pandas DataFrame immediately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365760" y="2432320"/>
            <a:ext cx="550011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If the file is missing → pipeline exits cleanly</a:t>
            </a:r>
            <a:endParaRPr/>
          </a:p>
        </p:txBody>
      </p:sp>
      <p:sp>
        <p:nvSpPr>
          <p:cNvPr id="204" name="Google Shape;204;p4"/>
          <p:cNvSpPr txBox="1"/>
          <p:nvPr/>
        </p:nvSpPr>
        <p:spPr>
          <a:xfrm>
            <a:off x="365760" y="2617320"/>
            <a:ext cx="550011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data transformation at this stage</a:t>
            </a:r>
            <a:endParaRPr/>
          </a:p>
        </p:txBody>
      </p:sp>
      <p:sp>
        <p:nvSpPr>
          <p:cNvPr id="205" name="Google Shape;205;p4"/>
          <p:cNvSpPr txBox="1"/>
          <p:nvPr/>
        </p:nvSpPr>
        <p:spPr>
          <a:xfrm>
            <a:off x="365760" y="2802320"/>
            <a:ext cx="550011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Parquet format preserves data types automatically</a:t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6185916" y="1517320"/>
            <a:ext cx="5682996" cy="496064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6185916" y="1517320"/>
            <a:ext cx="5682996" cy="300000"/>
          </a:xfrm>
          <a:prstGeom prst="roundRect">
            <a:avLst>
              <a:gd fmla="val 15000" name="adj"/>
            </a:avLst>
          </a:prstGeom>
          <a:solidFill>
            <a:srgbClr val="0096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6277356" y="1577320"/>
            <a:ext cx="5500116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 — Real-Time  (Retail Inventory)</a:t>
            </a:r>
            <a:endParaRPr/>
          </a:p>
        </p:txBody>
      </p:sp>
      <p:sp>
        <p:nvSpPr>
          <p:cNvPr id="209" name="Google Shape;209;p4"/>
          <p:cNvSpPr txBox="1"/>
          <p:nvPr/>
        </p:nvSpPr>
        <p:spPr>
          <a:xfrm>
            <a:off x="6277356" y="1877320"/>
            <a:ext cx="550011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Source file: any .csv dropped into input_zone/</a:t>
            </a:r>
            <a:endParaRPr/>
          </a:p>
        </p:txBody>
      </p:sp>
      <p:sp>
        <p:nvSpPr>
          <p:cNvPr id="210" name="Google Shape;210;p4"/>
          <p:cNvSpPr txBox="1"/>
          <p:nvPr/>
        </p:nvSpPr>
        <p:spPr>
          <a:xfrm>
            <a:off x="6277356" y="2062320"/>
            <a:ext cx="550011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pandas.read_csv() with UTF-8 encoding</a:t>
            </a:r>
            <a:endParaRPr/>
          </a:p>
        </p:txBody>
      </p:sp>
      <p:sp>
        <p:nvSpPr>
          <p:cNvPr id="211" name="Google Shape;211;p4"/>
          <p:cNvSpPr txBox="1"/>
          <p:nvPr/>
        </p:nvSpPr>
        <p:spPr>
          <a:xfrm>
            <a:off x="6277356" y="2247320"/>
            <a:ext cx="550011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File name is captured and passed downstream</a:t>
            </a:r>
            <a:endParaRPr/>
          </a:p>
        </p:txBody>
      </p:sp>
      <p:sp>
        <p:nvSpPr>
          <p:cNvPr id="212" name="Google Shape;212;p4"/>
          <p:cNvSpPr txBox="1"/>
          <p:nvPr/>
        </p:nvSpPr>
        <p:spPr>
          <a:xfrm>
            <a:off x="6277356" y="2432320"/>
            <a:ext cx="550011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If no file exists → ShortCircuitOperator skips all tasks</a:t>
            </a:r>
            <a:endParaRPr/>
          </a:p>
        </p:txBody>
      </p:sp>
      <p:sp>
        <p:nvSpPr>
          <p:cNvPr id="213" name="Google Shape;213;p4"/>
          <p:cNvSpPr txBox="1"/>
          <p:nvPr/>
        </p:nvSpPr>
        <p:spPr>
          <a:xfrm>
            <a:off x="6277356" y="2617320"/>
            <a:ext cx="550011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Watcher method: OS event fires reader instantly</a:t>
            </a:r>
            <a:endParaRPr/>
          </a:p>
        </p:txBody>
      </p:sp>
      <p:sp>
        <p:nvSpPr>
          <p:cNvPr id="214" name="Google Shape;214;p4"/>
          <p:cNvSpPr txBox="1"/>
          <p:nvPr/>
        </p:nvSpPr>
        <p:spPr>
          <a:xfrm>
            <a:off x="6277356" y="2802320"/>
            <a:ext cx="550011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Airflow method: checks every 5 minutes on schedule</a:t>
            </a:r>
            <a:endParaRPr/>
          </a:p>
        </p:txBody>
      </p:sp>
      <p:sp>
        <p:nvSpPr>
          <p:cNvPr id="215" name="Google Shape;215;p4"/>
          <p:cNvSpPr/>
          <p:nvPr/>
        </p:nvSpPr>
        <p:spPr>
          <a:xfrm>
            <a:off x="274320" y="6237960"/>
            <a:ext cx="11640312" cy="260000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 txBox="1"/>
          <p:nvPr/>
        </p:nvSpPr>
        <p:spPr>
          <a:xfrm>
            <a:off x="365760" y="6297960"/>
            <a:ext cx="11457432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Pandas?  Fast, well-tested, handles millions of rows in memory. Both pipelines share the same reader pattern — only the file path and format differ.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320040" y="73152"/>
            <a:ext cx="11430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 — Validator</a:t>
            </a:r>
            <a:endParaRPr/>
          </a:p>
        </p:txBody>
      </p:sp>
      <p:sp>
        <p:nvSpPr>
          <p:cNvPr id="223" name="Google Shape;223;p5"/>
          <p:cNvSpPr txBox="1"/>
          <p:nvPr/>
        </p:nvSpPr>
        <p:spPr>
          <a:xfrm>
            <a:off x="320040" y="603504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Applies column-by-column rules · rejects bad rows · imputes optional fields</a:t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0" y="960120"/>
            <a:ext cx="12188952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365760" y="1024128"/>
            <a:ext cx="11430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Mandatory columns remove the entire row on failure  ·  Non-mandatory columns are imputed</a:t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320040" y="6556248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Salina Giri </a:t>
            </a: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900">
                <a:solidFill>
                  <a:srgbClr val="93C5FD"/>
                </a:solidFill>
              </a:rPr>
              <a:t>Zakaria Shahruri </a:t>
            </a:r>
            <a:r>
              <a:rPr b="0" i="0"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·  Data Engineering  ·  Year 2 Semester 2  ·  5 May 2026</a:t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274320" y="1497320"/>
            <a:ext cx="5714436" cy="220000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274320" y="1497320"/>
            <a:ext cx="5714436" cy="300000"/>
          </a:xfrm>
          <a:prstGeom prst="roundRect">
            <a:avLst>
              <a:gd fmla="val 1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365760" y="1557320"/>
            <a:ext cx="5531556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 Mandatory Rules (row removed on failure)</a:t>
            </a:r>
            <a:endParaRPr/>
          </a:p>
        </p:txBody>
      </p:sp>
      <p:sp>
        <p:nvSpPr>
          <p:cNvPr id="231" name="Google Shape;231;p5"/>
          <p:cNvSpPr txBox="1"/>
          <p:nvPr/>
        </p:nvSpPr>
        <p:spPr>
          <a:xfrm>
            <a:off x="365760" y="185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pickup before dropoff — invalid dates → rejected</a:t>
            </a:r>
            <a:endParaRPr/>
          </a:p>
        </p:txBody>
      </p:sp>
      <p:sp>
        <p:nvSpPr>
          <p:cNvPr id="232" name="Google Shape;232;p5"/>
          <p:cNvSpPr txBox="1"/>
          <p:nvPr/>
        </p:nvSpPr>
        <p:spPr>
          <a:xfrm>
            <a:off x="365760" y="204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passenger_count: 1 – 9</a:t>
            </a:r>
            <a:endParaRPr/>
          </a:p>
        </p:txBody>
      </p:sp>
      <p:sp>
        <p:nvSpPr>
          <p:cNvPr id="233" name="Google Shape;233;p5"/>
          <p:cNvSpPr txBox="1"/>
          <p:nvPr/>
        </p:nvSpPr>
        <p:spPr>
          <a:xfrm>
            <a:off x="365760" y="222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trip_distance &gt; 0 miles</a:t>
            </a:r>
            <a:endParaRPr/>
          </a:p>
        </p:txBody>
      </p:sp>
      <p:sp>
        <p:nvSpPr>
          <p:cNvPr id="234" name="Google Shape;234;p5"/>
          <p:cNvSpPr txBox="1"/>
          <p:nvPr/>
        </p:nvSpPr>
        <p:spPr>
          <a:xfrm>
            <a:off x="365760" y="241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PULocationID / DOLocationID: valid positive integers</a:t>
            </a:r>
            <a:endParaRPr/>
          </a:p>
        </p:txBody>
      </p:sp>
      <p:sp>
        <p:nvSpPr>
          <p:cNvPr id="235" name="Google Shape;235;p5"/>
          <p:cNvSpPr txBox="1"/>
          <p:nvPr/>
        </p:nvSpPr>
        <p:spPr>
          <a:xfrm>
            <a:off x="365760" y="259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payment_type: codes 1 – 6 only</a:t>
            </a:r>
            <a:endParaRPr/>
          </a:p>
        </p:txBody>
      </p:sp>
      <p:sp>
        <p:nvSpPr>
          <p:cNvPr id="236" name="Google Shape;236;p5"/>
          <p:cNvSpPr txBox="1"/>
          <p:nvPr/>
        </p:nvSpPr>
        <p:spPr>
          <a:xfrm>
            <a:off x="365760" y="278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fare_amount &gt; 0  ·  total_amount &gt; 0</a:t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274320" y="3757320"/>
            <a:ext cx="5714436" cy="170000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274320" y="3757320"/>
            <a:ext cx="5714436" cy="300000"/>
          </a:xfrm>
          <a:prstGeom prst="roundRect">
            <a:avLst>
              <a:gd fmla="val 15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 txBox="1"/>
          <p:nvPr/>
        </p:nvSpPr>
        <p:spPr>
          <a:xfrm>
            <a:off x="365760" y="3817320"/>
            <a:ext cx="5531556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 Non-Mandatory Rules (imputed if missing)</a:t>
            </a:r>
            <a:endParaRPr/>
          </a:p>
        </p:txBody>
      </p:sp>
      <p:sp>
        <p:nvSpPr>
          <p:cNvPr id="240" name="Google Shape;240;p5"/>
          <p:cNvSpPr txBox="1"/>
          <p:nvPr/>
        </p:nvSpPr>
        <p:spPr>
          <a:xfrm>
            <a:off x="365760" y="411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tip_amount / surcharges → filled with 0.0</a:t>
            </a:r>
            <a:endParaRPr/>
          </a:p>
        </p:txBody>
      </p:sp>
      <p:sp>
        <p:nvSpPr>
          <p:cNvPr id="241" name="Google Shape;241;p5"/>
          <p:cNvSpPr txBox="1"/>
          <p:nvPr/>
        </p:nvSpPr>
        <p:spPr>
          <a:xfrm>
            <a:off x="365760" y="430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RatecodeID → filled with 99 (Unknown)</a:t>
            </a:r>
            <a:endParaRPr/>
          </a:p>
        </p:txBody>
      </p:sp>
      <p:sp>
        <p:nvSpPr>
          <p:cNvPr id="242" name="Google Shape;242;p5"/>
          <p:cNvSpPr txBox="1"/>
          <p:nvPr/>
        </p:nvSpPr>
        <p:spPr>
          <a:xfrm>
            <a:off x="365760" y="448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store_and_fwd_flag → not used downstream</a:t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6154476" y="1497320"/>
            <a:ext cx="5714436" cy="220000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6154476" y="1497320"/>
            <a:ext cx="5714436" cy="300000"/>
          </a:xfrm>
          <a:prstGeom prst="roundRect">
            <a:avLst>
              <a:gd fmla="val 15000" name="adj"/>
            </a:avLst>
          </a:prstGeom>
          <a:solidFill>
            <a:srgbClr val="0096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 txBox="1"/>
          <p:nvPr/>
        </p:nvSpPr>
        <p:spPr>
          <a:xfrm>
            <a:off x="6245916" y="1557320"/>
            <a:ext cx="5531556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 Mandatory Rules (11-column dataset)</a:t>
            </a:r>
            <a:endParaRPr/>
          </a:p>
        </p:txBody>
      </p:sp>
      <p:sp>
        <p:nvSpPr>
          <p:cNvPr id="246" name="Google Shape;246;p5"/>
          <p:cNvSpPr txBox="1"/>
          <p:nvPr/>
        </p:nvSpPr>
        <p:spPr>
          <a:xfrm>
            <a:off x="6245916" y="185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Transaction_ID: unique — duplicates dropped</a:t>
            </a:r>
            <a:endParaRPr/>
          </a:p>
        </p:txBody>
      </p:sp>
      <p:sp>
        <p:nvSpPr>
          <p:cNvPr id="247" name="Google Shape;247;p5"/>
          <p:cNvSpPr txBox="1"/>
          <p:nvPr/>
        </p:nvSpPr>
        <p:spPr>
          <a:xfrm>
            <a:off x="6245916" y="204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Customer_ID: null rows removed entirely</a:t>
            </a:r>
            <a:endParaRPr/>
          </a:p>
        </p:txBody>
      </p:sp>
      <p:sp>
        <p:nvSpPr>
          <p:cNvPr id="248" name="Google Shape;248;p5"/>
          <p:cNvSpPr txBox="1"/>
          <p:nvPr/>
        </p:nvSpPr>
        <p:spPr>
          <a:xfrm>
            <a:off x="6245916" y="222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Price Per Unit: must be positive float</a:t>
            </a:r>
            <a:endParaRPr/>
          </a:p>
        </p:txBody>
      </p:sp>
      <p:sp>
        <p:nvSpPr>
          <p:cNvPr id="249" name="Google Shape;249;p5"/>
          <p:cNvSpPr txBox="1"/>
          <p:nvPr/>
        </p:nvSpPr>
        <p:spPr>
          <a:xfrm>
            <a:off x="6245916" y="241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Quantity: integer ≥ 1</a:t>
            </a:r>
            <a:endParaRPr/>
          </a:p>
        </p:txBody>
      </p:sp>
      <p:sp>
        <p:nvSpPr>
          <p:cNvPr id="250" name="Google Shape;250;p5"/>
          <p:cNvSpPr txBox="1"/>
          <p:nvPr/>
        </p:nvSpPr>
        <p:spPr>
          <a:xfrm>
            <a:off x="6245916" y="259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Total Spent: numeric; invalid → 0.0</a:t>
            </a:r>
            <a:endParaRPr/>
          </a:p>
        </p:txBody>
      </p:sp>
      <p:sp>
        <p:nvSpPr>
          <p:cNvPr id="251" name="Google Shape;251;p5"/>
          <p:cNvSpPr txBox="1"/>
          <p:nvPr/>
        </p:nvSpPr>
        <p:spPr>
          <a:xfrm>
            <a:off x="6245916" y="278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Transaction Date: valid datetime; bad dates removed</a:t>
            </a:r>
            <a:endParaRPr/>
          </a:p>
        </p:txBody>
      </p:sp>
      <p:sp>
        <p:nvSpPr>
          <p:cNvPr id="252" name="Google Shape;252;p5"/>
          <p:cNvSpPr txBox="1"/>
          <p:nvPr/>
        </p:nvSpPr>
        <p:spPr>
          <a:xfrm>
            <a:off x="6245916" y="296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Discount Applied: normalised to True / False</a:t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6154476" y="3757320"/>
            <a:ext cx="5714436" cy="170000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6154476" y="3757320"/>
            <a:ext cx="5714436" cy="300000"/>
          </a:xfrm>
          <a:prstGeom prst="roundRect">
            <a:avLst>
              <a:gd fmla="val 15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 txBox="1"/>
          <p:nvPr/>
        </p:nvSpPr>
        <p:spPr>
          <a:xfrm>
            <a:off x="6245916" y="3817320"/>
            <a:ext cx="5531556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 Non-Mandatory Rules (imputed if missing)</a:t>
            </a:r>
            <a:endParaRPr/>
          </a:p>
        </p:txBody>
      </p:sp>
      <p:sp>
        <p:nvSpPr>
          <p:cNvPr id="256" name="Google Shape;256;p5"/>
          <p:cNvSpPr txBox="1"/>
          <p:nvPr/>
        </p:nvSpPr>
        <p:spPr>
          <a:xfrm>
            <a:off x="6245916" y="411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Category → Title Case; null → 'General'</a:t>
            </a:r>
            <a:endParaRPr/>
          </a:p>
        </p:txBody>
      </p:sp>
      <p:sp>
        <p:nvSpPr>
          <p:cNvPr id="257" name="Google Shape;257;p5"/>
          <p:cNvSpPr txBox="1"/>
          <p:nvPr/>
        </p:nvSpPr>
        <p:spPr>
          <a:xfrm>
            <a:off x="6245916" y="430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Item → null → 'Miscellaneous Item'</a:t>
            </a:r>
            <a:endParaRPr/>
          </a:p>
        </p:txBody>
      </p:sp>
      <p:sp>
        <p:nvSpPr>
          <p:cNvPr id="258" name="Google Shape;258;p5"/>
          <p:cNvSpPr txBox="1"/>
          <p:nvPr/>
        </p:nvSpPr>
        <p:spPr>
          <a:xfrm>
            <a:off x="6245916" y="448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Payment Method → stripped; null → 'Other'</a:t>
            </a:r>
            <a:endParaRPr/>
          </a:p>
        </p:txBody>
      </p:sp>
      <p:sp>
        <p:nvSpPr>
          <p:cNvPr id="259" name="Google Shape;259;p5"/>
          <p:cNvSpPr txBox="1"/>
          <p:nvPr/>
        </p:nvSpPr>
        <p:spPr>
          <a:xfrm>
            <a:off x="6245916" y="467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Location → null → 'Unknown'</a:t>
            </a: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274320" y="6257960"/>
            <a:ext cx="11640312" cy="240000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 txBox="1"/>
          <p:nvPr/>
        </p:nvSpPr>
        <p:spPr>
          <a:xfrm>
            <a:off x="365760" y="6317960"/>
            <a:ext cx="11457432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Design decision: rejected rows are written to a separate CSV file (not discarded) so data engineers can review and reprocess them later — full audit trail.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 txBox="1"/>
          <p:nvPr/>
        </p:nvSpPr>
        <p:spPr>
          <a:xfrm>
            <a:off x="320040" y="73152"/>
            <a:ext cx="1143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1 — </a:t>
            </a:r>
            <a:r>
              <a:rPr b="1" lang="en-US" sz="2600">
                <a:solidFill>
                  <a:srgbClr val="FFFFFF"/>
                </a:solidFill>
              </a:rPr>
              <a:t>Processor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320040" y="603504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Processor removes 3 columns and adds 8 new engineered features</a:t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320040" y="6556248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Salina Giri , </a:t>
            </a:r>
            <a:r>
              <a:rPr lang="en-US" sz="900">
                <a:solidFill>
                  <a:srgbClr val="93C5FD"/>
                </a:solidFill>
              </a:rPr>
              <a:t>Zakaria Shahruri </a:t>
            </a:r>
            <a:r>
              <a:rPr b="0" i="0" lang="en-US" sz="9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 ·  Data Engineering  ·  Year 2 Semester 2  ·  5 May 2026</a:t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256032" y="1042415"/>
            <a:ext cx="11676888" cy="475488"/>
          </a:xfrm>
          <a:prstGeom prst="roundRect">
            <a:avLst>
              <a:gd fmla="val 16667" name="adj"/>
            </a:avLst>
          </a:prstGeom>
          <a:solidFill>
            <a:srgbClr val="FECAC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457200" y="1115568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Columns removed:   VendorID   ·   store_and_fwd_flag   ·   RatecodeID</a:t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256032" y="1645920"/>
            <a:ext cx="5669280" cy="969264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256032" y="1645920"/>
            <a:ext cx="182880" cy="9692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576072" y="1719072"/>
            <a:ext cx="5257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trip_duration_minutes</a:t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576072" y="1719072"/>
            <a:ext cx="5257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576072" y="2103120"/>
            <a:ext cx="5257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(dropoff − pickup).total_seconds / 60</a:t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6245352" y="1645920"/>
            <a:ext cx="5669280" cy="969264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6245352" y="1645920"/>
            <a:ext cx="182880" cy="9692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 txBox="1"/>
          <p:nvPr/>
        </p:nvSpPr>
        <p:spPr>
          <a:xfrm>
            <a:off x="6565392" y="1719072"/>
            <a:ext cx="5257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average_speed_mph</a:t>
            </a:r>
            <a:endParaRPr/>
          </a:p>
        </p:txBody>
      </p:sp>
      <p:sp>
        <p:nvSpPr>
          <p:cNvPr id="281" name="Google Shape;281;p7"/>
          <p:cNvSpPr txBox="1"/>
          <p:nvPr/>
        </p:nvSpPr>
        <p:spPr>
          <a:xfrm>
            <a:off x="6565392" y="1719072"/>
            <a:ext cx="5257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Speed</a:t>
            </a:r>
            <a:endParaRPr/>
          </a:p>
        </p:txBody>
      </p:sp>
      <p:sp>
        <p:nvSpPr>
          <p:cNvPr id="282" name="Google Shape;282;p7"/>
          <p:cNvSpPr txBox="1"/>
          <p:nvPr/>
        </p:nvSpPr>
        <p:spPr>
          <a:xfrm>
            <a:off x="6565392" y="2103120"/>
            <a:ext cx="5257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trip_distance ÷ (duration / 60)  — where duration &gt; 0</a:t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256032" y="2706624"/>
            <a:ext cx="5669280" cy="969264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256032" y="2706624"/>
            <a:ext cx="182880" cy="969264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 txBox="1"/>
          <p:nvPr/>
        </p:nvSpPr>
        <p:spPr>
          <a:xfrm>
            <a:off x="576072" y="2779776"/>
            <a:ext cx="5257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pickup_year</a:t>
            </a:r>
            <a:endParaRPr/>
          </a:p>
        </p:txBody>
      </p:sp>
      <p:sp>
        <p:nvSpPr>
          <p:cNvPr id="286" name="Google Shape;286;p7"/>
          <p:cNvSpPr txBox="1"/>
          <p:nvPr/>
        </p:nvSpPr>
        <p:spPr>
          <a:xfrm>
            <a:off x="576072" y="2779776"/>
            <a:ext cx="5257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Temporal</a:t>
            </a:r>
            <a:endParaRPr/>
          </a:p>
        </p:txBody>
      </p:sp>
      <p:sp>
        <p:nvSpPr>
          <p:cNvPr id="287" name="Google Shape;287;p7"/>
          <p:cNvSpPr txBox="1"/>
          <p:nvPr/>
        </p:nvSpPr>
        <p:spPr>
          <a:xfrm>
            <a:off x="576072" y="3163824"/>
            <a:ext cx="5257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Year extracted from tpep_pickup_datetime</a:t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6245352" y="2706624"/>
            <a:ext cx="5669280" cy="969264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6245352" y="2706624"/>
            <a:ext cx="182880" cy="969264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 txBox="1"/>
          <p:nvPr/>
        </p:nvSpPr>
        <p:spPr>
          <a:xfrm>
            <a:off x="6565392" y="2779776"/>
            <a:ext cx="5257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pickup_month</a:t>
            </a:r>
            <a:endParaRPr/>
          </a:p>
        </p:txBody>
      </p:sp>
      <p:sp>
        <p:nvSpPr>
          <p:cNvPr id="291" name="Google Shape;291;p7"/>
          <p:cNvSpPr txBox="1"/>
          <p:nvPr/>
        </p:nvSpPr>
        <p:spPr>
          <a:xfrm>
            <a:off x="6565392" y="2779776"/>
            <a:ext cx="5257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Temporal</a:t>
            </a:r>
            <a:endParaRPr/>
          </a:p>
        </p:txBody>
      </p:sp>
      <p:sp>
        <p:nvSpPr>
          <p:cNvPr id="292" name="Google Shape;292;p7"/>
          <p:cNvSpPr txBox="1"/>
          <p:nvPr/>
        </p:nvSpPr>
        <p:spPr>
          <a:xfrm>
            <a:off x="6565392" y="3163824"/>
            <a:ext cx="5257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Month extracted from tpep_pickup_datetime</a:t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256032" y="3767328"/>
            <a:ext cx="5669280" cy="969264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256032" y="3767328"/>
            <a:ext cx="182880" cy="969264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576072" y="3840480"/>
            <a:ext cx="5257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revenue_per_mile</a:t>
            </a:r>
            <a:endParaRPr/>
          </a:p>
        </p:txBody>
      </p:sp>
      <p:sp>
        <p:nvSpPr>
          <p:cNvPr id="296" name="Google Shape;296;p7"/>
          <p:cNvSpPr txBox="1"/>
          <p:nvPr/>
        </p:nvSpPr>
        <p:spPr>
          <a:xfrm>
            <a:off x="576072" y="3840480"/>
            <a:ext cx="5257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Financial</a:t>
            </a:r>
            <a:endParaRPr/>
          </a:p>
        </p:txBody>
      </p:sp>
      <p:sp>
        <p:nvSpPr>
          <p:cNvPr id="297" name="Google Shape;297;p7"/>
          <p:cNvSpPr txBox="1"/>
          <p:nvPr/>
        </p:nvSpPr>
        <p:spPr>
          <a:xfrm>
            <a:off x="576072" y="4224528"/>
            <a:ext cx="5257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total_amount ÷ trip_distance  — where distance &gt; 0</a:t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6245352" y="3767328"/>
            <a:ext cx="5669280" cy="969264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6245352" y="3767328"/>
            <a:ext cx="182880" cy="969264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 txBox="1"/>
          <p:nvPr/>
        </p:nvSpPr>
        <p:spPr>
          <a:xfrm>
            <a:off x="6565392" y="3840480"/>
            <a:ext cx="5257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trip_distance_category</a:t>
            </a:r>
            <a:endParaRPr/>
          </a:p>
        </p:txBody>
      </p:sp>
      <p:sp>
        <p:nvSpPr>
          <p:cNvPr id="301" name="Google Shape;301;p7"/>
          <p:cNvSpPr txBox="1"/>
          <p:nvPr/>
        </p:nvSpPr>
        <p:spPr>
          <a:xfrm>
            <a:off x="6565392" y="3840480"/>
            <a:ext cx="5257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endParaRPr/>
          </a:p>
        </p:txBody>
      </p:sp>
      <p:sp>
        <p:nvSpPr>
          <p:cNvPr id="302" name="Google Shape;302;p7"/>
          <p:cNvSpPr txBox="1"/>
          <p:nvPr/>
        </p:nvSpPr>
        <p:spPr>
          <a:xfrm>
            <a:off x="6565392" y="4224528"/>
            <a:ext cx="5257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Short &lt; 2 mi  ·  Medium 2–10 mi  ·  Long &gt; 10 mi</a:t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256032" y="4828032"/>
            <a:ext cx="5669280" cy="969264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256032" y="4828032"/>
            <a:ext cx="182880" cy="969264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 txBox="1"/>
          <p:nvPr/>
        </p:nvSpPr>
        <p:spPr>
          <a:xfrm>
            <a:off x="576072" y="4901184"/>
            <a:ext cx="5257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fare_category</a:t>
            </a:r>
            <a:endParaRPr/>
          </a:p>
        </p:txBody>
      </p:sp>
      <p:sp>
        <p:nvSpPr>
          <p:cNvPr id="306" name="Google Shape;306;p7"/>
          <p:cNvSpPr txBox="1"/>
          <p:nvPr/>
        </p:nvSpPr>
        <p:spPr>
          <a:xfrm>
            <a:off x="576072" y="4901184"/>
            <a:ext cx="5257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endParaRPr/>
          </a:p>
        </p:txBody>
      </p:sp>
      <p:sp>
        <p:nvSpPr>
          <p:cNvPr id="307" name="Google Shape;307;p7"/>
          <p:cNvSpPr txBox="1"/>
          <p:nvPr/>
        </p:nvSpPr>
        <p:spPr>
          <a:xfrm>
            <a:off x="576072" y="5285232"/>
            <a:ext cx="5257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Low &lt; $20  ·  Medium $20–$50  ·  High &gt; $50</a:t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6245352" y="4828032"/>
            <a:ext cx="5669280" cy="969264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6245352" y="4828032"/>
            <a:ext cx="182880" cy="969264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 txBox="1"/>
          <p:nvPr/>
        </p:nvSpPr>
        <p:spPr>
          <a:xfrm>
            <a:off x="6565392" y="4901184"/>
            <a:ext cx="5257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trip_time_of_day</a:t>
            </a:r>
            <a:endParaRPr/>
          </a:p>
        </p:txBody>
      </p:sp>
      <p:sp>
        <p:nvSpPr>
          <p:cNvPr id="311" name="Google Shape;311;p7"/>
          <p:cNvSpPr txBox="1"/>
          <p:nvPr/>
        </p:nvSpPr>
        <p:spPr>
          <a:xfrm>
            <a:off x="6565392" y="4901184"/>
            <a:ext cx="5257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Temporal</a:t>
            </a:r>
            <a:endParaRPr/>
          </a:p>
        </p:txBody>
      </p:sp>
      <p:sp>
        <p:nvSpPr>
          <p:cNvPr id="312" name="Google Shape;312;p7"/>
          <p:cNvSpPr txBox="1"/>
          <p:nvPr/>
        </p:nvSpPr>
        <p:spPr>
          <a:xfrm>
            <a:off x="6565392" y="5285232"/>
            <a:ext cx="5257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Night 0–5h  ·  Morning 6–11h  ·  Afternoon 12–17h  ·  Evening 18–23h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 txBox="1"/>
          <p:nvPr/>
        </p:nvSpPr>
        <p:spPr>
          <a:xfrm>
            <a:off x="320040" y="73152"/>
            <a:ext cx="11430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 — Back-up Validator</a:t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320040" y="603504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Second safety pass after feature engineering · catches impossible computed values</a:t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0" y="960120"/>
            <a:ext cx="12188952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 txBox="1"/>
          <p:nvPr/>
        </p:nvSpPr>
        <p:spPr>
          <a:xfrm>
            <a:off x="365760" y="1024128"/>
            <a:ext cx="11430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validator checks raw input  ·  Back-up validator checks engineered columns</a:t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 txBox="1"/>
          <p:nvPr/>
        </p:nvSpPr>
        <p:spPr>
          <a:xfrm>
            <a:off x="320040" y="6556248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Salina Giri</a:t>
            </a: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900">
                <a:solidFill>
                  <a:srgbClr val="93C5FD"/>
                </a:solidFill>
              </a:rPr>
              <a:t>Zakaria Shahruri </a:t>
            </a:r>
            <a:r>
              <a:rPr b="0" i="0"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·  Data Engineering  ·  Year 2 Semester 2  ·  5 May 2026</a:t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274320" y="1537320"/>
            <a:ext cx="11640312" cy="50000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274320" y="1537320"/>
            <a:ext cx="11640312" cy="300000"/>
          </a:xfrm>
          <a:prstGeom prst="roundRect">
            <a:avLst>
              <a:gd fmla="val 15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 txBox="1"/>
          <p:nvPr/>
        </p:nvSpPr>
        <p:spPr>
          <a:xfrm>
            <a:off x="365760" y="1597320"/>
            <a:ext cx="11457432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a second validator?</a:t>
            </a:r>
            <a:endParaRPr/>
          </a:p>
        </p:txBody>
      </p:sp>
      <p:sp>
        <p:nvSpPr>
          <p:cNvPr id="327" name="Google Shape;327;p8"/>
          <p:cNvSpPr txBox="1"/>
          <p:nvPr/>
        </p:nvSpPr>
        <p:spPr>
          <a:xfrm>
            <a:off x="365760" y="1897320"/>
            <a:ext cx="11457432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Processor derives new columns using arithmetic — division errors, edge-case inputs, or logic bugs can produce NaN, Inf, or negative values.</a:t>
            </a:r>
            <a:endParaRPr/>
          </a:p>
        </p:txBody>
      </p:sp>
      <p:sp>
        <p:nvSpPr>
          <p:cNvPr id="328" name="Google Shape;328;p8"/>
          <p:cNvSpPr txBox="1"/>
          <p:nvPr/>
        </p:nvSpPr>
        <p:spPr>
          <a:xfrm>
            <a:off x="365760" y="2082320"/>
            <a:ext cx="11457432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back-up validator catches these post-processing anomalies before bad data reaches the Writer or Azure.</a:t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274320" y="2117320"/>
            <a:ext cx="5714436" cy="260000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274320" y="2117320"/>
            <a:ext cx="5714436" cy="300000"/>
          </a:xfrm>
          <a:prstGeom prst="roundRect">
            <a:avLst>
              <a:gd fmla="val 1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 txBox="1"/>
          <p:nvPr/>
        </p:nvSpPr>
        <p:spPr>
          <a:xfrm>
            <a:off x="365760" y="2177320"/>
            <a:ext cx="5531556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 Back-up Checks</a:t>
            </a:r>
            <a:endParaRPr/>
          </a:p>
        </p:txBody>
      </p:sp>
      <p:sp>
        <p:nvSpPr>
          <p:cNvPr id="332" name="Google Shape;332;p8"/>
          <p:cNvSpPr txBox="1"/>
          <p:nvPr/>
        </p:nvSpPr>
        <p:spPr>
          <a:xfrm>
            <a:off x="365760" y="247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average_speed_mph ≤ 100 mph</a:t>
            </a:r>
            <a:endParaRPr/>
          </a:p>
        </p:txBody>
      </p:sp>
      <p:sp>
        <p:nvSpPr>
          <p:cNvPr id="333" name="Google Shape;333;p8"/>
          <p:cNvSpPr txBox="1"/>
          <p:nvPr/>
        </p:nvSpPr>
        <p:spPr>
          <a:xfrm>
            <a:off x="365760" y="266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→ NYC taxis don't drive at highway speeds</a:t>
            </a:r>
            <a:endParaRPr/>
          </a:p>
        </p:txBody>
      </p:sp>
      <p:sp>
        <p:nvSpPr>
          <p:cNvPr id="334" name="Google Shape;334;p8"/>
          <p:cNvSpPr txBox="1"/>
          <p:nvPr/>
        </p:nvSpPr>
        <p:spPr>
          <a:xfrm>
            <a:off x="365760" y="284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trip_duration_minutes &gt; 0</a:t>
            </a:r>
            <a:endParaRPr/>
          </a:p>
        </p:txBody>
      </p:sp>
      <p:sp>
        <p:nvSpPr>
          <p:cNvPr id="335" name="Google Shape;335;p8"/>
          <p:cNvSpPr txBox="1"/>
          <p:nvPr/>
        </p:nvSpPr>
        <p:spPr>
          <a:xfrm>
            <a:off x="365760" y="303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→ negative or zero duration is impossible</a:t>
            </a:r>
            <a:endParaRPr/>
          </a:p>
        </p:txBody>
      </p:sp>
      <p:sp>
        <p:nvSpPr>
          <p:cNvPr id="336" name="Google Shape;336;p8"/>
          <p:cNvSpPr txBox="1"/>
          <p:nvPr/>
        </p:nvSpPr>
        <p:spPr>
          <a:xfrm>
            <a:off x="365760" y="321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Inf / NaN in computed columns</a:t>
            </a:r>
            <a:endParaRPr/>
          </a:p>
        </p:txBody>
      </p:sp>
      <p:sp>
        <p:nvSpPr>
          <p:cNvPr id="337" name="Google Shape;337;p8"/>
          <p:cNvSpPr txBox="1"/>
          <p:nvPr/>
        </p:nvSpPr>
        <p:spPr>
          <a:xfrm>
            <a:off x="365760" y="340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→ guards against division-by-zero</a:t>
            </a:r>
            <a:endParaRPr/>
          </a:p>
        </p:txBody>
      </p:sp>
      <p:sp>
        <p:nvSpPr>
          <p:cNvPr id="338" name="Google Shape;338;p8"/>
          <p:cNvSpPr txBox="1"/>
          <p:nvPr/>
        </p:nvSpPr>
        <p:spPr>
          <a:xfrm>
            <a:off x="365760" y="358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Rows failing these checks go to a SEPARATE</a:t>
            </a:r>
            <a:endParaRPr/>
          </a:p>
        </p:txBody>
      </p:sp>
      <p:sp>
        <p:nvSpPr>
          <p:cNvPr id="339" name="Google Shape;339;p8"/>
          <p:cNvSpPr txBox="1"/>
          <p:nvPr/>
        </p:nvSpPr>
        <p:spPr>
          <a:xfrm>
            <a:off x="365760" y="377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rejected CSV (backup_rejects.csv)</a:t>
            </a:r>
            <a:endParaRPr/>
          </a:p>
        </p:txBody>
      </p:sp>
      <p:sp>
        <p:nvSpPr>
          <p:cNvPr id="340" name="Google Shape;340;p8"/>
          <p:cNvSpPr txBox="1"/>
          <p:nvPr/>
        </p:nvSpPr>
        <p:spPr>
          <a:xfrm>
            <a:off x="365760" y="395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424 rows rejected in Jan 2025 data (&lt;0.02%)</a:t>
            </a:r>
            <a:endParaRPr/>
          </a:p>
        </p:txBody>
      </p:sp>
      <p:sp>
        <p:nvSpPr>
          <p:cNvPr id="341" name="Google Shape;341;p8"/>
          <p:cNvSpPr/>
          <p:nvPr/>
        </p:nvSpPr>
        <p:spPr>
          <a:xfrm>
            <a:off x="6154476" y="2117320"/>
            <a:ext cx="5714436" cy="260000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6154476" y="2117320"/>
            <a:ext cx="5714436" cy="300000"/>
          </a:xfrm>
          <a:prstGeom prst="roundRect">
            <a:avLst>
              <a:gd fmla="val 15000" name="adj"/>
            </a:avLst>
          </a:prstGeom>
          <a:solidFill>
            <a:srgbClr val="0096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 txBox="1"/>
          <p:nvPr/>
        </p:nvSpPr>
        <p:spPr>
          <a:xfrm>
            <a:off x="6245916" y="2177320"/>
            <a:ext cx="5531556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 Back-up Checks</a:t>
            </a:r>
            <a:endParaRPr/>
          </a:p>
        </p:txBody>
      </p:sp>
      <p:sp>
        <p:nvSpPr>
          <p:cNvPr id="344" name="Google Shape;344;p8"/>
          <p:cNvSpPr txBox="1"/>
          <p:nvPr/>
        </p:nvSpPr>
        <p:spPr>
          <a:xfrm>
            <a:off x="6245916" y="247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Schema = exactly 16 columns</a:t>
            </a:r>
            <a:endParaRPr/>
          </a:p>
        </p:txBody>
      </p:sp>
      <p:sp>
        <p:nvSpPr>
          <p:cNvPr id="345" name="Google Shape;345;p8"/>
          <p:cNvSpPr txBox="1"/>
          <p:nvPr/>
        </p:nvSpPr>
        <p:spPr>
          <a:xfrm>
            <a:off x="6245916" y="266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→ ensures no columns were accidentally dropped</a:t>
            </a:r>
            <a:endParaRPr/>
          </a:p>
        </p:txBody>
      </p:sp>
      <p:sp>
        <p:nvSpPr>
          <p:cNvPr id="346" name="Google Shape;346;p8"/>
          <p:cNvSpPr txBox="1"/>
          <p:nvPr/>
        </p:nvSpPr>
        <p:spPr>
          <a:xfrm>
            <a:off x="6245916" y="284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Vat_Amount ≥ 0</a:t>
            </a:r>
            <a:endParaRPr/>
          </a:p>
        </p:txBody>
      </p:sp>
      <p:sp>
        <p:nvSpPr>
          <p:cNvPr id="347" name="Google Shape;347;p8"/>
          <p:cNvSpPr txBox="1"/>
          <p:nvPr/>
        </p:nvSpPr>
        <p:spPr>
          <a:xfrm>
            <a:off x="6245916" y="303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→ negative VAT would be a calculation error</a:t>
            </a:r>
            <a:endParaRPr/>
          </a:p>
        </p:txBody>
      </p:sp>
      <p:sp>
        <p:nvSpPr>
          <p:cNvPr id="348" name="Google Shape;348;p8"/>
          <p:cNvSpPr txBox="1"/>
          <p:nvPr/>
        </p:nvSpPr>
        <p:spPr>
          <a:xfrm>
            <a:off x="6245916" y="321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Estimated_Delivery &gt; Transaction_Date</a:t>
            </a:r>
            <a:endParaRPr/>
          </a:p>
        </p:txBody>
      </p:sp>
      <p:sp>
        <p:nvSpPr>
          <p:cNvPr id="349" name="Google Shape;349;p8"/>
          <p:cNvSpPr txBox="1"/>
          <p:nvPr/>
        </p:nvSpPr>
        <p:spPr>
          <a:xfrm>
            <a:off x="6245916" y="340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→ delivery can't be in the past</a:t>
            </a:r>
            <a:endParaRPr/>
          </a:p>
        </p:txBody>
      </p:sp>
      <p:sp>
        <p:nvSpPr>
          <p:cNvPr id="350" name="Google Shape;350;p8"/>
          <p:cNvSpPr txBox="1"/>
          <p:nvPr/>
        </p:nvSpPr>
        <p:spPr>
          <a:xfrm>
            <a:off x="6245916" y="358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nulls in any of the 5 engineered columns</a:t>
            </a:r>
            <a:endParaRPr/>
          </a:p>
        </p:txBody>
      </p:sp>
      <p:sp>
        <p:nvSpPr>
          <p:cNvPr id="351" name="Google Shape;351;p8"/>
          <p:cNvSpPr txBox="1"/>
          <p:nvPr/>
        </p:nvSpPr>
        <p:spPr>
          <a:xfrm>
            <a:off x="6245916" y="377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→ all features must be present for analytics</a:t>
            </a:r>
            <a:endParaRPr/>
          </a:p>
        </p:txBody>
      </p:sp>
      <p:sp>
        <p:nvSpPr>
          <p:cNvPr id="352" name="Google Shape;352;p8"/>
          <p:cNvSpPr txBox="1"/>
          <p:nvPr/>
        </p:nvSpPr>
        <p:spPr>
          <a:xfrm>
            <a:off x="6245916" y="395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Logs warnings but does NOT reject partial rows</a:t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274320" y="6257960"/>
            <a:ext cx="11640312" cy="240000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 txBox="1"/>
          <p:nvPr/>
        </p:nvSpPr>
        <p:spPr>
          <a:xfrm>
            <a:off x="365760" y="6317960"/>
            <a:ext cx="11457432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Dual validation is a defensive engineering pattern: split concerns (raw data quality vs. logic correctness) and keep rejection logs separate for easier debugging.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9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 txBox="1"/>
          <p:nvPr/>
        </p:nvSpPr>
        <p:spPr>
          <a:xfrm>
            <a:off x="320040" y="73152"/>
            <a:ext cx="11430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5 — Writer</a:t>
            </a:r>
            <a:endParaRPr/>
          </a:p>
        </p:txBody>
      </p:sp>
      <p:sp>
        <p:nvSpPr>
          <p:cNvPr id="361" name="Google Shape;361;p9"/>
          <p:cNvSpPr txBox="1"/>
          <p:nvPr/>
        </p:nvSpPr>
        <p:spPr>
          <a:xfrm>
            <a:off x="320040" y="603504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Final stage · persists gold data locally · uploads to Azure Blob Storage</a:t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0" y="960120"/>
            <a:ext cx="12188952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 txBox="1"/>
          <p:nvPr/>
        </p:nvSpPr>
        <p:spPr>
          <a:xfrm>
            <a:off x="365760" y="1024128"/>
            <a:ext cx="11430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run produces two outputs: a local file and a cloud copy in Azure</a:t>
            </a: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 txBox="1"/>
          <p:nvPr/>
        </p:nvSpPr>
        <p:spPr>
          <a:xfrm>
            <a:off x="320040" y="6556248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Salina Giri , </a:t>
            </a:r>
            <a:r>
              <a:rPr lang="en-US" sz="900">
                <a:solidFill>
                  <a:srgbClr val="93C5FD"/>
                </a:solidFill>
              </a:rPr>
              <a:t>Zakaria Shahruri </a:t>
            </a:r>
            <a:r>
              <a:rPr b="0" i="0"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 ·  Data Engineering  ·  Year 2 Semester 2  ·  5 May 2026</a:t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274320" y="1517320"/>
            <a:ext cx="5714436" cy="200000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274320" y="1517320"/>
            <a:ext cx="5714436" cy="300000"/>
          </a:xfrm>
          <a:prstGeom prst="roundRect">
            <a:avLst>
              <a:gd fmla="val 1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 txBox="1"/>
          <p:nvPr/>
        </p:nvSpPr>
        <p:spPr>
          <a:xfrm>
            <a:off x="365760" y="1577320"/>
            <a:ext cx="5531556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 — What the Writer saves</a:t>
            </a:r>
            <a:endParaRPr/>
          </a:p>
        </p:txBody>
      </p:sp>
      <p:sp>
        <p:nvSpPr>
          <p:cNvPr id="369" name="Google Shape;369;p9"/>
          <p:cNvSpPr txBox="1"/>
          <p:nvPr/>
        </p:nvSpPr>
        <p:spPr>
          <a:xfrm>
            <a:off x="365760" y="187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processed_taxi_data.parquet  (gold rows, 3.3M+)</a:t>
            </a:r>
            <a:endParaRPr/>
          </a:p>
        </p:txBody>
      </p:sp>
      <p:sp>
        <p:nvSpPr>
          <p:cNvPr id="370" name="Google Shape;370;p9"/>
          <p:cNvSpPr txBox="1"/>
          <p:nvPr/>
        </p:nvSpPr>
        <p:spPr>
          <a:xfrm>
            <a:off x="365760" y="206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primary_rejects.csv  (validation failures)</a:t>
            </a:r>
            <a:endParaRPr/>
          </a:p>
        </p:txBody>
      </p:sp>
      <p:sp>
        <p:nvSpPr>
          <p:cNvPr id="371" name="Google Shape;371;p9"/>
          <p:cNvSpPr txBox="1"/>
          <p:nvPr/>
        </p:nvSpPr>
        <p:spPr>
          <a:xfrm>
            <a:off x="365760" y="224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backup_rejects.csv  (speed/duration anomalies)</a:t>
            </a:r>
            <a:endParaRPr/>
          </a:p>
        </p:txBody>
      </p:sp>
      <p:sp>
        <p:nvSpPr>
          <p:cNvPr id="372" name="Google Shape;372;p9"/>
          <p:cNvSpPr txBox="1"/>
          <p:nvPr/>
        </p:nvSpPr>
        <p:spPr>
          <a:xfrm>
            <a:off x="365760" y="243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Parquet chosen over CSV: 5× faster, type-safe</a:t>
            </a:r>
            <a:endParaRPr/>
          </a:p>
        </p:txBody>
      </p:sp>
      <p:sp>
        <p:nvSpPr>
          <p:cNvPr id="373" name="Google Shape;373;p9"/>
          <p:cNvSpPr txBox="1"/>
          <p:nvPr/>
        </p:nvSpPr>
        <p:spPr>
          <a:xfrm>
            <a:off x="365760" y="261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Azure container: taxiproject</a:t>
            </a:r>
            <a:endParaRPr/>
          </a:p>
        </p:txBody>
      </p:sp>
      <p:sp>
        <p:nvSpPr>
          <p:cNvPr id="374" name="Google Shape;374;p9"/>
          <p:cNvSpPr txBox="1"/>
          <p:nvPr/>
        </p:nvSpPr>
        <p:spPr>
          <a:xfrm>
            <a:off x="365760" y="280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 3 files uploaded in a single writer call</a:t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6154476" y="1517320"/>
            <a:ext cx="5714436" cy="200000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6154476" y="1517320"/>
            <a:ext cx="5714436" cy="300000"/>
          </a:xfrm>
          <a:prstGeom prst="roundRect">
            <a:avLst>
              <a:gd fmla="val 15000" name="adj"/>
            </a:avLst>
          </a:prstGeom>
          <a:solidFill>
            <a:srgbClr val="0096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 txBox="1"/>
          <p:nvPr/>
        </p:nvSpPr>
        <p:spPr>
          <a:xfrm>
            <a:off x="6245916" y="1577320"/>
            <a:ext cx="5531556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 — What the Writer saves</a:t>
            </a:r>
            <a:endParaRPr/>
          </a:p>
        </p:txBody>
      </p:sp>
      <p:sp>
        <p:nvSpPr>
          <p:cNvPr id="378" name="Google Shape;378;p9"/>
          <p:cNvSpPr txBox="1"/>
          <p:nvPr/>
        </p:nvSpPr>
        <p:spPr>
          <a:xfrm>
            <a:off x="6245916" y="187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&lt;filename&gt;_processed.csv  (16-column gold data)</a:t>
            </a:r>
            <a:endParaRPr/>
          </a:p>
        </p:txBody>
      </p:sp>
      <p:sp>
        <p:nvSpPr>
          <p:cNvPr id="379" name="Google Shape;379;p9"/>
          <p:cNvSpPr txBox="1"/>
          <p:nvPr/>
        </p:nvSpPr>
        <p:spPr>
          <a:xfrm>
            <a:off x="6245916" y="206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Same filename structure as the input file</a:t>
            </a:r>
            <a:endParaRPr/>
          </a:p>
        </p:txBody>
      </p:sp>
      <p:sp>
        <p:nvSpPr>
          <p:cNvPr id="380" name="Google Shape;380;p9"/>
          <p:cNvSpPr txBox="1"/>
          <p:nvPr/>
        </p:nvSpPr>
        <p:spPr>
          <a:xfrm>
            <a:off x="6245916" y="224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Azure container: inventory-output</a:t>
            </a:r>
            <a:endParaRPr/>
          </a:p>
        </p:txBody>
      </p:sp>
      <p:sp>
        <p:nvSpPr>
          <p:cNvPr id="381" name="Google Shape;381;p9"/>
          <p:cNvSpPr txBox="1"/>
          <p:nvPr/>
        </p:nvSpPr>
        <p:spPr>
          <a:xfrm>
            <a:off x="6245916" y="243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After upload, input file is moved to archived/</a:t>
            </a:r>
            <a:endParaRPr/>
          </a:p>
        </p:txBody>
      </p:sp>
      <p:sp>
        <p:nvSpPr>
          <p:cNvPr id="382" name="Google Shape;382;p9"/>
          <p:cNvSpPr txBox="1"/>
          <p:nvPr/>
        </p:nvSpPr>
        <p:spPr>
          <a:xfrm>
            <a:off x="6245916" y="261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Archive step prevents double-processing on next poll</a:t>
            </a:r>
            <a:endParaRPr/>
          </a:p>
        </p:txBody>
      </p:sp>
      <p:sp>
        <p:nvSpPr>
          <p:cNvPr id="383" name="Google Shape;383;p9"/>
          <p:cNvSpPr txBox="1"/>
          <p:nvPr/>
        </p:nvSpPr>
        <p:spPr>
          <a:xfrm>
            <a:off x="6245916" y="280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Archive folder acts as a processing audit log</a:t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274320" y="3597320"/>
            <a:ext cx="11640312" cy="170000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274320" y="3597320"/>
            <a:ext cx="11640312" cy="300000"/>
          </a:xfrm>
          <a:prstGeom prst="roundRect">
            <a:avLst>
              <a:gd fmla="val 15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 txBox="1"/>
          <p:nvPr/>
        </p:nvSpPr>
        <p:spPr>
          <a:xfrm>
            <a:off x="365760" y="3657320"/>
            <a:ext cx="11457432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Blob Storage — how the connection works</a:t>
            </a:r>
            <a:endParaRPr/>
          </a:p>
        </p:txBody>
      </p:sp>
      <p:sp>
        <p:nvSpPr>
          <p:cNvPr id="387" name="Google Shape;387;p9"/>
          <p:cNvSpPr txBox="1"/>
          <p:nvPr/>
        </p:nvSpPr>
        <p:spPr>
          <a:xfrm>
            <a:off x="365760" y="3957320"/>
            <a:ext cx="11457432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Connection string stored in .env file  →  never hardcoded in source code</a:t>
            </a:r>
            <a:endParaRPr/>
          </a:p>
        </p:txBody>
      </p:sp>
      <p:sp>
        <p:nvSpPr>
          <p:cNvPr id="388" name="Google Shape;388;p9"/>
          <p:cNvSpPr txBox="1"/>
          <p:nvPr/>
        </p:nvSpPr>
        <p:spPr>
          <a:xfrm>
            <a:off x="365760" y="4142320"/>
            <a:ext cx="11457432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Loaded at runtime using python-dotenv  →  pip install python-dotenv</a:t>
            </a:r>
            <a:endParaRPr/>
          </a:p>
        </p:txBody>
      </p:sp>
      <p:sp>
        <p:nvSpPr>
          <p:cNvPr id="389" name="Google Shape;389;p9"/>
          <p:cNvSpPr txBox="1"/>
          <p:nvPr/>
        </p:nvSpPr>
        <p:spPr>
          <a:xfrm>
            <a:off x="365760" y="4327320"/>
            <a:ext cx="11457432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azure-storage-blob SDK: BlobServiceClient → ContainerClient → upload_blob()</a:t>
            </a:r>
            <a:endParaRPr/>
          </a:p>
        </p:txBody>
      </p:sp>
      <p:sp>
        <p:nvSpPr>
          <p:cNvPr id="390" name="Google Shape;390;p9"/>
          <p:cNvSpPr txBox="1"/>
          <p:nvPr/>
        </p:nvSpPr>
        <p:spPr>
          <a:xfrm>
            <a:off x="365760" y="4512320"/>
            <a:ext cx="11457432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Containers created automatically on first run if they don't exist</a:t>
            </a:r>
            <a:endParaRPr/>
          </a:p>
        </p:txBody>
      </p:sp>
      <p:sp>
        <p:nvSpPr>
          <p:cNvPr id="391" name="Google Shape;391;p9"/>
          <p:cNvSpPr txBox="1"/>
          <p:nvPr/>
        </p:nvSpPr>
        <p:spPr>
          <a:xfrm>
            <a:off x="365760" y="4697320"/>
            <a:ext cx="11457432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Overwrite=True means re-running the pipeline replaces the previous output</a:t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274320" y="6257960"/>
            <a:ext cx="11640312" cy="240000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 txBox="1"/>
          <p:nvPr/>
        </p:nvSpPr>
        <p:spPr>
          <a:xfrm>
            <a:off x="365760" y="6317960"/>
            <a:ext cx="11457432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Parquet for Part 1?  Parquet files are 5–10× smaller than CSV for numeric data, support column pruning, and preserve dtypes — no silent float→string conversions when re-reading.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6"/>
          <p:cNvSpPr txBox="1"/>
          <p:nvPr/>
        </p:nvSpPr>
        <p:spPr>
          <a:xfrm>
            <a:off x="320040" y="73152"/>
            <a:ext cx="11430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1 — Data Quality</a:t>
            </a:r>
            <a:endParaRPr/>
          </a:p>
        </p:txBody>
      </p:sp>
      <p:sp>
        <p:nvSpPr>
          <p:cNvPr id="400" name="Google Shape;400;p6"/>
          <p:cNvSpPr txBox="1"/>
          <p:nvPr/>
        </p:nvSpPr>
        <p:spPr>
          <a:xfrm>
            <a:off x="320040" y="603504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NYC Yellow Taxi · January 2025 · Stacked chart shows row composition</a:t>
            </a:r>
            <a:endParaRPr/>
          </a:p>
        </p:txBody>
      </p:sp>
      <p:sp>
        <p:nvSpPr>
          <p:cNvPr id="401" name="Google Shape;401;p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6"/>
          <p:cNvSpPr txBox="1"/>
          <p:nvPr/>
        </p:nvSpPr>
        <p:spPr>
          <a:xfrm>
            <a:off x="320040" y="6556248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Salina Giri , </a:t>
            </a:r>
            <a:r>
              <a:rPr lang="en-US" sz="900">
                <a:solidFill>
                  <a:srgbClr val="93C5FD"/>
                </a:solidFill>
              </a:rPr>
              <a:t>Zakaria Shahruri </a:t>
            </a:r>
            <a:r>
              <a:rPr b="0" i="0" lang="en-US" sz="9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 ·  Data Engineering  ·  Year 2 Semester 2  ·  5 May 2026</a:t>
            </a:r>
            <a:endParaRPr/>
          </a:p>
        </p:txBody>
      </p:sp>
      <p:sp>
        <p:nvSpPr>
          <p:cNvPr id="403" name="Google Shape;403;p6"/>
          <p:cNvSpPr/>
          <p:nvPr/>
        </p:nvSpPr>
        <p:spPr>
          <a:xfrm>
            <a:off x="256032" y="1078992"/>
            <a:ext cx="2743200" cy="1325880"/>
          </a:xfrm>
          <a:prstGeom prst="roundRect">
            <a:avLst>
              <a:gd fmla="val 16667" name="adj"/>
            </a:avLst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6"/>
          <p:cNvSpPr txBox="1"/>
          <p:nvPr/>
        </p:nvSpPr>
        <p:spPr>
          <a:xfrm>
            <a:off x="347472" y="1170432"/>
            <a:ext cx="2560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3,475,226</a:t>
            </a:r>
            <a:endParaRPr/>
          </a:p>
        </p:txBody>
      </p:sp>
      <p:sp>
        <p:nvSpPr>
          <p:cNvPr id="405" name="Google Shape;405;p6"/>
          <p:cNvSpPr txBox="1"/>
          <p:nvPr/>
        </p:nvSpPr>
        <p:spPr>
          <a:xfrm>
            <a:off x="347472" y="194767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Raw Input Rows</a:t>
            </a:r>
            <a:endParaRPr/>
          </a:p>
        </p:txBody>
      </p:sp>
      <p:sp>
        <p:nvSpPr>
          <p:cNvPr id="406" name="Google Shape;406;p6"/>
          <p:cNvSpPr/>
          <p:nvPr/>
        </p:nvSpPr>
        <p:spPr>
          <a:xfrm>
            <a:off x="3154680" y="1078992"/>
            <a:ext cx="2743200" cy="1325880"/>
          </a:xfrm>
          <a:prstGeom prst="roundRect">
            <a:avLst>
              <a:gd fmla="val 16667" name="adj"/>
            </a:avLst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6"/>
          <p:cNvSpPr txBox="1"/>
          <p:nvPr/>
        </p:nvSpPr>
        <p:spPr>
          <a:xfrm>
            <a:off x="3246120" y="1170432"/>
            <a:ext cx="2560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3,326,500</a:t>
            </a:r>
            <a:endParaRPr/>
          </a:p>
        </p:txBody>
      </p:sp>
      <p:sp>
        <p:nvSpPr>
          <p:cNvPr id="408" name="Google Shape;408;p6"/>
          <p:cNvSpPr txBox="1"/>
          <p:nvPr/>
        </p:nvSpPr>
        <p:spPr>
          <a:xfrm>
            <a:off x="3246120" y="194767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BBF7D0"/>
                </a:solidFill>
                <a:latin typeface="Arial"/>
                <a:ea typeface="Arial"/>
                <a:cs typeface="Arial"/>
                <a:sym typeface="Arial"/>
              </a:rPr>
              <a:t>Final Gold Output</a:t>
            </a:r>
            <a:endParaRPr/>
          </a:p>
        </p:txBody>
      </p:sp>
      <p:sp>
        <p:nvSpPr>
          <p:cNvPr id="409" name="Google Shape;409;p6"/>
          <p:cNvSpPr/>
          <p:nvPr/>
        </p:nvSpPr>
        <p:spPr>
          <a:xfrm>
            <a:off x="6053328" y="1078992"/>
            <a:ext cx="2743200" cy="1325880"/>
          </a:xfrm>
          <a:prstGeom prst="roundRect">
            <a:avLst>
              <a:gd fmla="val 16667" name="adj"/>
            </a:avLst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6"/>
          <p:cNvSpPr txBox="1"/>
          <p:nvPr/>
        </p:nvSpPr>
        <p:spPr>
          <a:xfrm>
            <a:off x="6144768" y="1170432"/>
            <a:ext cx="2560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148,726</a:t>
            </a:r>
            <a:endParaRPr/>
          </a:p>
        </p:txBody>
      </p:sp>
      <p:sp>
        <p:nvSpPr>
          <p:cNvPr id="411" name="Google Shape;411;p6"/>
          <p:cNvSpPr txBox="1"/>
          <p:nvPr/>
        </p:nvSpPr>
        <p:spPr>
          <a:xfrm>
            <a:off x="6144768" y="194767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ECACA"/>
                </a:solidFill>
                <a:latin typeface="Arial"/>
                <a:ea typeface="Arial"/>
                <a:cs typeface="Arial"/>
                <a:sym typeface="Arial"/>
              </a:rPr>
              <a:t>Total Rejected</a:t>
            </a:r>
            <a:endParaRPr/>
          </a:p>
        </p:txBody>
      </p:sp>
      <p:sp>
        <p:nvSpPr>
          <p:cNvPr id="412" name="Google Shape;412;p6"/>
          <p:cNvSpPr/>
          <p:nvPr/>
        </p:nvSpPr>
        <p:spPr>
          <a:xfrm>
            <a:off x="8942832" y="1078992"/>
            <a:ext cx="2999232" cy="132588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6"/>
          <p:cNvSpPr txBox="1"/>
          <p:nvPr/>
        </p:nvSpPr>
        <p:spPr>
          <a:xfrm>
            <a:off x="9034272" y="1170432"/>
            <a:ext cx="2816351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95.72%</a:t>
            </a:r>
            <a:endParaRPr/>
          </a:p>
        </p:txBody>
      </p:sp>
      <p:sp>
        <p:nvSpPr>
          <p:cNvPr id="414" name="Google Shape;414;p6"/>
          <p:cNvSpPr txBox="1"/>
          <p:nvPr/>
        </p:nvSpPr>
        <p:spPr>
          <a:xfrm>
            <a:off x="9034272" y="1947672"/>
            <a:ext cx="2816351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Data Retention Rate</a:t>
            </a:r>
            <a:endParaRPr/>
          </a:p>
        </p:txBody>
      </p:sp>
      <p:graphicFrame>
        <p:nvGraphicFramePr>
          <p:cNvPr id="415" name="Google Shape;415;p6"/>
          <p:cNvGraphicFramePr/>
          <p:nvPr/>
        </p:nvGraphicFramePr>
        <p:xfrm>
          <a:off x="256032" y="2578608"/>
          <a:ext cx="5486400" cy="36118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16" name="Google Shape;416;p6"/>
          <p:cNvSpPr/>
          <p:nvPr/>
        </p:nvSpPr>
        <p:spPr>
          <a:xfrm>
            <a:off x="5989320" y="2578608"/>
            <a:ext cx="5943600" cy="1143000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6"/>
          <p:cNvSpPr/>
          <p:nvPr/>
        </p:nvSpPr>
        <p:spPr>
          <a:xfrm>
            <a:off x="5989320" y="2578608"/>
            <a:ext cx="201168" cy="11430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6"/>
          <p:cNvSpPr txBox="1"/>
          <p:nvPr/>
        </p:nvSpPr>
        <p:spPr>
          <a:xfrm>
            <a:off x="6291072" y="2670048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✔  Final Gold</a:t>
            </a:r>
            <a:endParaRPr/>
          </a:p>
        </p:txBody>
      </p:sp>
      <p:sp>
        <p:nvSpPr>
          <p:cNvPr id="419" name="Google Shape;419;p6"/>
          <p:cNvSpPr txBox="1"/>
          <p:nvPr/>
        </p:nvSpPr>
        <p:spPr>
          <a:xfrm>
            <a:off x="6291072" y="303580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3,326,500 rows  ·  95.72% of input</a:t>
            </a:r>
            <a:endParaRPr/>
          </a:p>
        </p:txBody>
      </p:sp>
      <p:sp>
        <p:nvSpPr>
          <p:cNvPr id="420" name="Google Shape;420;p6"/>
          <p:cNvSpPr txBox="1"/>
          <p:nvPr/>
        </p:nvSpPr>
        <p:spPr>
          <a:xfrm>
            <a:off x="6291072" y="3346703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Clean, enriched data — ready for analysis</a:t>
            </a:r>
            <a:endParaRPr/>
          </a:p>
        </p:txBody>
      </p:sp>
      <p:sp>
        <p:nvSpPr>
          <p:cNvPr id="421" name="Google Shape;421;p6"/>
          <p:cNvSpPr/>
          <p:nvPr/>
        </p:nvSpPr>
        <p:spPr>
          <a:xfrm>
            <a:off x="5989320" y="3931920"/>
            <a:ext cx="5943600" cy="1143000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6"/>
          <p:cNvSpPr/>
          <p:nvPr/>
        </p:nvSpPr>
        <p:spPr>
          <a:xfrm>
            <a:off x="5989320" y="3931920"/>
            <a:ext cx="201168" cy="1143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"/>
          <p:cNvSpPr txBox="1"/>
          <p:nvPr/>
        </p:nvSpPr>
        <p:spPr>
          <a:xfrm>
            <a:off x="6291072" y="4023359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✘  Rejected — Primary Validation</a:t>
            </a:r>
            <a:endParaRPr/>
          </a:p>
        </p:txBody>
      </p:sp>
      <p:sp>
        <p:nvSpPr>
          <p:cNvPr id="424" name="Google Shape;424;p6"/>
          <p:cNvSpPr txBox="1"/>
          <p:nvPr/>
        </p:nvSpPr>
        <p:spPr>
          <a:xfrm>
            <a:off x="6291072" y="438912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148,302 rows  ·  4.27% of input</a:t>
            </a:r>
            <a:endParaRPr/>
          </a:p>
        </p:txBody>
      </p:sp>
      <p:sp>
        <p:nvSpPr>
          <p:cNvPr id="425" name="Google Shape;425;p6"/>
          <p:cNvSpPr txBox="1"/>
          <p:nvPr/>
        </p:nvSpPr>
        <p:spPr>
          <a:xfrm>
            <a:off x="6291072" y="4700016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Business rule violations: invalid fares, bad dates, etc.</a:t>
            </a:r>
            <a:endParaRPr/>
          </a:p>
        </p:txBody>
      </p:sp>
      <p:sp>
        <p:nvSpPr>
          <p:cNvPr id="426" name="Google Shape;426;p6"/>
          <p:cNvSpPr/>
          <p:nvPr/>
        </p:nvSpPr>
        <p:spPr>
          <a:xfrm>
            <a:off x="5989320" y="5285232"/>
            <a:ext cx="5943600" cy="1143000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6"/>
          <p:cNvSpPr/>
          <p:nvPr/>
        </p:nvSpPr>
        <p:spPr>
          <a:xfrm>
            <a:off x="5989320" y="5285232"/>
            <a:ext cx="201168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6"/>
          <p:cNvSpPr txBox="1"/>
          <p:nvPr/>
        </p:nvSpPr>
        <p:spPr>
          <a:xfrm>
            <a:off x="6291072" y="5376672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⚠  Rejected — Back-up Validation</a:t>
            </a:r>
            <a:endParaRPr/>
          </a:p>
        </p:txBody>
      </p:sp>
      <p:sp>
        <p:nvSpPr>
          <p:cNvPr id="429" name="Google Shape;429;p6"/>
          <p:cNvSpPr txBox="1"/>
          <p:nvPr/>
        </p:nvSpPr>
        <p:spPr>
          <a:xfrm>
            <a:off x="6291072" y="5742432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424 rows  ·  &lt; 0.02% of input</a:t>
            </a:r>
            <a:endParaRPr/>
          </a:p>
        </p:txBody>
      </p:sp>
      <p:sp>
        <p:nvSpPr>
          <p:cNvPr id="430" name="Google Shape;430;p6"/>
          <p:cNvSpPr txBox="1"/>
          <p:nvPr/>
        </p:nvSpPr>
        <p:spPr>
          <a:xfrm>
            <a:off x="6291072" y="605332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Impossible values: speed &gt; 100 mph, zero duration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 txBox="1"/>
          <p:nvPr/>
        </p:nvSpPr>
        <p:spPr>
          <a:xfrm>
            <a:off x="320040" y="73152"/>
            <a:ext cx="11430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2 — Real-Time Processing</a:t>
            </a:r>
            <a:endParaRPr/>
          </a:p>
        </p:txBody>
      </p:sp>
      <p:sp>
        <p:nvSpPr>
          <p:cNvPr id="437" name="Google Shape;437;p10"/>
          <p:cNvSpPr txBox="1"/>
          <p:nvPr/>
        </p:nvSpPr>
        <p:spPr>
          <a:xfrm>
            <a:off x="320040" y="603504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Retail Inventory · File-drop trigger · 149 rows · 11 columns</a:t>
            </a:r>
            <a:endParaRPr/>
          </a:p>
        </p:txBody>
      </p:sp>
      <p:sp>
        <p:nvSpPr>
          <p:cNvPr id="438" name="Google Shape;438;p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 txBox="1"/>
          <p:nvPr/>
        </p:nvSpPr>
        <p:spPr>
          <a:xfrm>
            <a:off x="320040" y="6556248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Salina Giri</a:t>
            </a:r>
            <a:r>
              <a:rPr lang="en-US" sz="900">
                <a:solidFill>
                  <a:srgbClr val="93C5FD"/>
                </a:solidFill>
              </a:rPr>
              <a:t>, </a:t>
            </a:r>
            <a:r>
              <a:rPr lang="en-US" sz="900">
                <a:solidFill>
                  <a:srgbClr val="93C5FD"/>
                </a:solidFill>
              </a:rPr>
              <a:t>Zakaria Shahruri </a:t>
            </a:r>
            <a:r>
              <a:rPr b="0" i="0" lang="en-US" sz="9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·  Data Engineering  ·  Year 2 Semester 2  ·  5 May 2026</a:t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256032" y="1042415"/>
            <a:ext cx="5715000" cy="5230368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 txBox="1"/>
          <p:nvPr/>
        </p:nvSpPr>
        <p:spPr>
          <a:xfrm>
            <a:off x="475488" y="1170432"/>
            <a:ext cx="530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Method A — Watchdog</a:t>
            </a:r>
            <a:endParaRPr/>
          </a:p>
        </p:txBody>
      </p:sp>
      <p:sp>
        <p:nvSpPr>
          <p:cNvPr id="442" name="Google Shape;442;p10"/>
          <p:cNvSpPr txBox="1"/>
          <p:nvPr/>
        </p:nvSpPr>
        <p:spPr>
          <a:xfrm>
            <a:off x="475488" y="150876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Instant OS-level trigger  ·  ~1 second latency</a:t>
            </a: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475488" y="1920240"/>
            <a:ext cx="5303520" cy="822960"/>
          </a:xfrm>
          <a:prstGeom prst="roundRect">
            <a:avLst>
              <a:gd fmla="val 16667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 txBox="1"/>
          <p:nvPr/>
        </p:nvSpPr>
        <p:spPr>
          <a:xfrm>
            <a:off x="658368" y="199339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 File Drop</a:t>
            </a:r>
            <a:endParaRPr/>
          </a:p>
        </p:txBody>
      </p:sp>
      <p:sp>
        <p:nvSpPr>
          <p:cNvPr id="445" name="Google Shape;445;p10"/>
          <p:cNvSpPr txBox="1"/>
          <p:nvPr/>
        </p:nvSpPr>
        <p:spPr>
          <a:xfrm>
            <a:off x="658368" y="237744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Copy .csv into input_zone/ from Finder or terminal</a:t>
            </a:r>
            <a:endParaRPr/>
          </a:p>
        </p:txBody>
      </p:sp>
      <p:sp>
        <p:nvSpPr>
          <p:cNvPr id="446" name="Google Shape;446;p10"/>
          <p:cNvSpPr txBox="1"/>
          <p:nvPr/>
        </p:nvSpPr>
        <p:spPr>
          <a:xfrm>
            <a:off x="2743200" y="27614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447" name="Google Shape;447;p10"/>
          <p:cNvSpPr/>
          <p:nvPr/>
        </p:nvSpPr>
        <p:spPr>
          <a:xfrm>
            <a:off x="475488" y="3063240"/>
            <a:ext cx="5303520" cy="82296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 txBox="1"/>
          <p:nvPr/>
        </p:nvSpPr>
        <p:spPr>
          <a:xfrm>
            <a:off x="658368" y="313639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 Watchdog Fires</a:t>
            </a:r>
            <a:endParaRPr/>
          </a:p>
        </p:txBody>
      </p:sp>
      <p:sp>
        <p:nvSpPr>
          <p:cNvPr id="449" name="Google Shape;449;p10"/>
          <p:cNvSpPr txBox="1"/>
          <p:nvPr/>
        </p:nvSpPr>
        <p:spPr>
          <a:xfrm>
            <a:off x="658368" y="352044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watchdog library detects OS file-system event</a:t>
            </a:r>
            <a:endParaRPr/>
          </a:p>
        </p:txBody>
      </p:sp>
      <p:sp>
        <p:nvSpPr>
          <p:cNvPr id="450" name="Google Shape;450;p10"/>
          <p:cNvSpPr txBox="1"/>
          <p:nvPr/>
        </p:nvSpPr>
        <p:spPr>
          <a:xfrm>
            <a:off x="2743200" y="39044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451" name="Google Shape;451;p10"/>
          <p:cNvSpPr/>
          <p:nvPr/>
        </p:nvSpPr>
        <p:spPr>
          <a:xfrm>
            <a:off x="475488" y="4206240"/>
            <a:ext cx="5303520" cy="822960"/>
          </a:xfrm>
          <a:prstGeom prst="roundRect">
            <a:avLst>
              <a:gd fmla="val 16667" name="adj"/>
            </a:avLst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0"/>
          <p:cNvSpPr txBox="1"/>
          <p:nvPr/>
        </p:nvSpPr>
        <p:spPr>
          <a:xfrm>
            <a:off x="658368" y="427939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 Pipeline Runs</a:t>
            </a:r>
            <a:endParaRPr/>
          </a:p>
        </p:txBody>
      </p:sp>
      <p:sp>
        <p:nvSpPr>
          <p:cNvPr id="453" name="Google Shape;453;p10"/>
          <p:cNvSpPr txBox="1"/>
          <p:nvPr/>
        </p:nvSpPr>
        <p:spPr>
          <a:xfrm>
            <a:off x="658368" y="466344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Full 5-stage pipeline executes automatically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2743200" y="50474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455" name="Google Shape;455;p10"/>
          <p:cNvSpPr/>
          <p:nvPr/>
        </p:nvSpPr>
        <p:spPr>
          <a:xfrm>
            <a:off x="475488" y="5349240"/>
            <a:ext cx="5303520" cy="822960"/>
          </a:xfrm>
          <a:prstGeom prst="roundRect">
            <a:avLst>
              <a:gd fmla="val 16667" name="adj"/>
            </a:avLst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 txBox="1"/>
          <p:nvPr/>
        </p:nvSpPr>
        <p:spPr>
          <a:xfrm>
            <a:off x="658368" y="542239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 Output Written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658368" y="580644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CSV saved to output_zone/ + uploaded to Azure Blob</a:t>
            </a:r>
            <a:endParaRPr/>
          </a:p>
        </p:txBody>
      </p:sp>
      <p:sp>
        <p:nvSpPr>
          <p:cNvPr id="458" name="Google Shape;458;p10"/>
          <p:cNvSpPr/>
          <p:nvPr/>
        </p:nvSpPr>
        <p:spPr>
          <a:xfrm>
            <a:off x="6236208" y="1042415"/>
            <a:ext cx="5715000" cy="5230368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0"/>
          <p:cNvSpPr txBox="1"/>
          <p:nvPr/>
        </p:nvSpPr>
        <p:spPr>
          <a:xfrm>
            <a:off x="6455664" y="1170432"/>
            <a:ext cx="530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Method B — Airflow DAG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6455664" y="150876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Production approach  ·  Polls input_zone/ every 5 minutes</a:t>
            </a:r>
            <a:endParaRPr/>
          </a:p>
        </p:txBody>
      </p:sp>
      <p:sp>
        <p:nvSpPr>
          <p:cNvPr id="461" name="Google Shape;461;p10"/>
          <p:cNvSpPr/>
          <p:nvPr/>
        </p:nvSpPr>
        <p:spPr>
          <a:xfrm>
            <a:off x="6455664" y="1920240"/>
            <a:ext cx="5303520" cy="804672"/>
          </a:xfrm>
          <a:prstGeom prst="roundRect">
            <a:avLst>
              <a:gd fmla="val 16667" name="adj"/>
            </a:avLst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0"/>
          <p:cNvSpPr txBox="1"/>
          <p:nvPr/>
        </p:nvSpPr>
        <p:spPr>
          <a:xfrm>
            <a:off x="6638544" y="199339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check_for_files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6638544" y="235915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ShortCircuitOperator — skips all tasks if no file present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8869680" y="2743200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465" name="Google Shape;465;p10"/>
          <p:cNvSpPr/>
          <p:nvPr/>
        </p:nvSpPr>
        <p:spPr>
          <a:xfrm>
            <a:off x="6455664" y="2962656"/>
            <a:ext cx="5303520" cy="804672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6638544" y="3035808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→ validate → process</a:t>
            </a:r>
            <a:endParaRPr/>
          </a:p>
        </p:txBody>
      </p:sp>
      <p:sp>
        <p:nvSpPr>
          <p:cNvPr id="467" name="Google Shape;467;p10"/>
          <p:cNvSpPr txBox="1"/>
          <p:nvPr/>
        </p:nvSpPr>
        <p:spPr>
          <a:xfrm>
            <a:off x="6638544" y="3401568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Three core pipeline stages run sequentially</a:t>
            </a:r>
            <a:endParaRPr/>
          </a:p>
        </p:txBody>
      </p:sp>
      <p:sp>
        <p:nvSpPr>
          <p:cNvPr id="468" name="Google Shape;468;p10"/>
          <p:cNvSpPr txBox="1"/>
          <p:nvPr/>
        </p:nvSpPr>
        <p:spPr>
          <a:xfrm>
            <a:off x="8869680" y="3785616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469" name="Google Shape;469;p10"/>
          <p:cNvSpPr/>
          <p:nvPr/>
        </p:nvSpPr>
        <p:spPr>
          <a:xfrm>
            <a:off x="6455664" y="4005072"/>
            <a:ext cx="5303520" cy="804672"/>
          </a:xfrm>
          <a:prstGeom prst="roundRect">
            <a:avLst>
              <a:gd fmla="val 16667" name="adj"/>
            </a:avLst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 txBox="1"/>
          <p:nvPr/>
        </p:nvSpPr>
        <p:spPr>
          <a:xfrm>
            <a:off x="6638544" y="407822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backup_validate</a:t>
            </a:r>
            <a:endParaRPr/>
          </a:p>
        </p:txBody>
      </p:sp>
      <p:sp>
        <p:nvSpPr>
          <p:cNvPr id="471" name="Google Shape;471;p10"/>
          <p:cNvSpPr txBox="1"/>
          <p:nvPr/>
        </p:nvSpPr>
        <p:spPr>
          <a:xfrm>
            <a:off x="6638544" y="4443983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Post-processing sanity checks on engineered columns</a:t>
            </a:r>
            <a:endParaRPr/>
          </a:p>
        </p:txBody>
      </p:sp>
      <p:sp>
        <p:nvSpPr>
          <p:cNvPr id="472" name="Google Shape;472;p10"/>
          <p:cNvSpPr txBox="1"/>
          <p:nvPr/>
        </p:nvSpPr>
        <p:spPr>
          <a:xfrm>
            <a:off x="8869680" y="482803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473" name="Google Shape;473;p10"/>
          <p:cNvSpPr/>
          <p:nvPr/>
        </p:nvSpPr>
        <p:spPr>
          <a:xfrm>
            <a:off x="6455664" y="5047488"/>
            <a:ext cx="5303520" cy="804672"/>
          </a:xfrm>
          <a:prstGeom prst="roundRect">
            <a:avLst>
              <a:gd fmla="val 16667" name="adj"/>
            </a:avLst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0"/>
          <p:cNvSpPr txBox="1"/>
          <p:nvPr/>
        </p:nvSpPr>
        <p:spPr>
          <a:xfrm>
            <a:off x="6638544" y="512064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write_data</a:t>
            </a:r>
            <a:endParaRPr/>
          </a:p>
        </p:txBody>
      </p:sp>
      <p:sp>
        <p:nvSpPr>
          <p:cNvPr id="475" name="Google Shape;475;p10"/>
          <p:cNvSpPr txBox="1"/>
          <p:nvPr/>
        </p:nvSpPr>
        <p:spPr>
          <a:xfrm>
            <a:off x="6638544" y="548640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Local CSV saved + Azure Blob upload</a:t>
            </a:r>
            <a:endParaRPr/>
          </a:p>
        </p:txBody>
      </p:sp>
      <p:sp>
        <p:nvSpPr>
          <p:cNvPr id="476" name="Google Shape;476;p10"/>
          <p:cNvSpPr/>
          <p:nvPr/>
        </p:nvSpPr>
        <p:spPr>
          <a:xfrm>
            <a:off x="6455664" y="6089903"/>
            <a:ext cx="5303520" cy="804672"/>
          </a:xfrm>
          <a:prstGeom prst="roundRect">
            <a:avLst>
              <a:gd fmla="val 16667" name="adj"/>
            </a:avLst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0"/>
          <p:cNvSpPr txBox="1"/>
          <p:nvPr/>
        </p:nvSpPr>
        <p:spPr>
          <a:xfrm>
            <a:off x="6638544" y="6163055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archive_input_file</a:t>
            </a:r>
            <a:endParaRPr/>
          </a:p>
        </p:txBody>
      </p:sp>
      <p:sp>
        <p:nvSpPr>
          <p:cNvPr id="478" name="Google Shape;478;p10"/>
          <p:cNvSpPr txBox="1"/>
          <p:nvPr/>
        </p:nvSpPr>
        <p:spPr>
          <a:xfrm>
            <a:off x="6638544" y="6528815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D1EAFF"/>
                </a:solidFill>
                <a:latin typeface="Arial"/>
                <a:ea typeface="Arial"/>
                <a:cs typeface="Arial"/>
                <a:sym typeface="Arial"/>
              </a:rPr>
              <a:t>File moved to archived/ — never processed twice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 txBox="1"/>
          <p:nvPr/>
        </p:nvSpPr>
        <p:spPr>
          <a:xfrm>
            <a:off x="320040" y="73152"/>
            <a:ext cx="11430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2 — Feature Engineering</a:t>
            </a:r>
            <a:endParaRPr/>
          </a:p>
        </p:txBody>
      </p:sp>
      <p:sp>
        <p:nvSpPr>
          <p:cNvPr id="485" name="Google Shape;485;p11"/>
          <p:cNvSpPr txBox="1"/>
          <p:nvPr/>
        </p:nvSpPr>
        <p:spPr>
          <a:xfrm>
            <a:off x="320040" y="603504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Processor adds 5 new columns  ·  Final schema: 11 original + 5 engineered = 16 columns</a:t>
            </a:r>
            <a:endParaRPr/>
          </a:p>
        </p:txBody>
      </p:sp>
      <p:sp>
        <p:nvSpPr>
          <p:cNvPr id="486" name="Google Shape;486;p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1"/>
          <p:cNvSpPr txBox="1"/>
          <p:nvPr/>
        </p:nvSpPr>
        <p:spPr>
          <a:xfrm>
            <a:off x="320040" y="6556248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Salina Giri </a:t>
            </a:r>
            <a:r>
              <a:rPr lang="en-US" sz="900">
                <a:solidFill>
                  <a:srgbClr val="93C5FD"/>
                </a:solidFill>
              </a:rPr>
              <a:t>, Zakaria Shahruri</a:t>
            </a:r>
            <a:r>
              <a:rPr b="0" i="0" lang="en-US" sz="9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 Data Engineering  ·  Year 2 Semester 2  ·  5 May 2026</a:t>
            </a: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256032" y="1078992"/>
            <a:ext cx="11676888" cy="868680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256032" y="1078992"/>
            <a:ext cx="201168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 txBox="1"/>
          <p:nvPr/>
        </p:nvSpPr>
        <p:spPr>
          <a:xfrm>
            <a:off x="566928" y="117043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Vat_Amount</a:t>
            </a:r>
            <a:endParaRPr/>
          </a:p>
        </p:txBody>
      </p:sp>
      <p:sp>
        <p:nvSpPr>
          <p:cNvPr id="491" name="Google Shape;491;p11"/>
          <p:cNvSpPr txBox="1"/>
          <p:nvPr/>
        </p:nvSpPr>
        <p:spPr>
          <a:xfrm>
            <a:off x="566928" y="1170432"/>
            <a:ext cx="11155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Financial</a:t>
            </a:r>
            <a:endParaRPr/>
          </a:p>
        </p:txBody>
      </p:sp>
      <p:sp>
        <p:nvSpPr>
          <p:cNvPr id="492" name="Google Shape;492;p11"/>
          <p:cNvSpPr txBox="1"/>
          <p:nvPr/>
        </p:nvSpPr>
        <p:spPr>
          <a:xfrm>
            <a:off x="566928" y="158191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Total Spent × 21%  (standard EU VAT rate)</a:t>
            </a:r>
            <a:endParaRPr/>
          </a:p>
        </p:txBody>
      </p:sp>
      <p:sp>
        <p:nvSpPr>
          <p:cNvPr id="493" name="Google Shape;493;p11"/>
          <p:cNvSpPr/>
          <p:nvPr/>
        </p:nvSpPr>
        <p:spPr>
          <a:xfrm>
            <a:off x="256032" y="2075687"/>
            <a:ext cx="11676888" cy="868680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256032" y="2075687"/>
            <a:ext cx="201168" cy="86868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1"/>
          <p:cNvSpPr txBox="1"/>
          <p:nvPr/>
        </p:nvSpPr>
        <p:spPr>
          <a:xfrm>
            <a:off x="566928" y="2167127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Is_Bulk_Order</a:t>
            </a:r>
            <a:endParaRPr/>
          </a:p>
        </p:txBody>
      </p:sp>
      <p:sp>
        <p:nvSpPr>
          <p:cNvPr id="496" name="Google Shape;496;p11"/>
          <p:cNvSpPr txBox="1"/>
          <p:nvPr/>
        </p:nvSpPr>
        <p:spPr>
          <a:xfrm>
            <a:off x="566928" y="2167127"/>
            <a:ext cx="11155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Flag</a:t>
            </a:r>
            <a:endParaRPr/>
          </a:p>
        </p:txBody>
      </p:sp>
      <p:sp>
        <p:nvSpPr>
          <p:cNvPr id="497" name="Google Shape;497;p11"/>
          <p:cNvSpPr txBox="1"/>
          <p:nvPr/>
        </p:nvSpPr>
        <p:spPr>
          <a:xfrm>
            <a:off x="566928" y="2578607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True if Quantity ≥ 10  —  flags large-volume orders</a:t>
            </a:r>
            <a:endParaRPr/>
          </a:p>
        </p:txBody>
      </p:sp>
      <p:sp>
        <p:nvSpPr>
          <p:cNvPr id="498" name="Google Shape;498;p11"/>
          <p:cNvSpPr/>
          <p:nvPr/>
        </p:nvSpPr>
        <p:spPr>
          <a:xfrm>
            <a:off x="256032" y="3072383"/>
            <a:ext cx="11676888" cy="868680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256032" y="3072383"/>
            <a:ext cx="201168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1"/>
          <p:cNvSpPr txBox="1"/>
          <p:nvPr/>
        </p:nvSpPr>
        <p:spPr>
          <a:xfrm>
            <a:off x="566928" y="3163823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Customer_Segment</a:t>
            </a:r>
            <a:endParaRPr/>
          </a:p>
        </p:txBody>
      </p:sp>
      <p:sp>
        <p:nvSpPr>
          <p:cNvPr id="501" name="Google Shape;501;p11"/>
          <p:cNvSpPr txBox="1"/>
          <p:nvPr/>
        </p:nvSpPr>
        <p:spPr>
          <a:xfrm>
            <a:off x="566928" y="3163823"/>
            <a:ext cx="11155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Segmentation</a:t>
            </a:r>
            <a:endParaRPr/>
          </a:p>
        </p:txBody>
      </p:sp>
      <p:sp>
        <p:nvSpPr>
          <p:cNvPr id="502" name="Google Shape;502;p11"/>
          <p:cNvSpPr txBox="1"/>
          <p:nvPr/>
        </p:nvSpPr>
        <p:spPr>
          <a:xfrm>
            <a:off x="566928" y="3575303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Premium &gt; $200  ·  Mid-Tier &gt; $100  ·  Standard (all others)</a:t>
            </a:r>
            <a:endParaRPr/>
          </a:p>
        </p:txBody>
      </p:sp>
      <p:sp>
        <p:nvSpPr>
          <p:cNvPr id="503" name="Google Shape;503;p11"/>
          <p:cNvSpPr/>
          <p:nvPr/>
        </p:nvSpPr>
        <p:spPr>
          <a:xfrm>
            <a:off x="256032" y="4069079"/>
            <a:ext cx="11676888" cy="868680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1"/>
          <p:cNvSpPr/>
          <p:nvPr/>
        </p:nvSpPr>
        <p:spPr>
          <a:xfrm>
            <a:off x="256032" y="4069079"/>
            <a:ext cx="201168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1"/>
          <p:cNvSpPr txBox="1"/>
          <p:nvPr/>
        </p:nvSpPr>
        <p:spPr>
          <a:xfrm>
            <a:off x="566928" y="4160519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Estimated_Delivery</a:t>
            </a:r>
            <a:endParaRPr/>
          </a:p>
        </p:txBody>
      </p:sp>
      <p:sp>
        <p:nvSpPr>
          <p:cNvPr id="506" name="Google Shape;506;p11"/>
          <p:cNvSpPr txBox="1"/>
          <p:nvPr/>
        </p:nvSpPr>
        <p:spPr>
          <a:xfrm>
            <a:off x="566928" y="4160519"/>
            <a:ext cx="11155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Logistics</a:t>
            </a:r>
            <a:endParaRPr/>
          </a:p>
        </p:txBody>
      </p:sp>
      <p:sp>
        <p:nvSpPr>
          <p:cNvPr id="507" name="Google Shape;507;p11"/>
          <p:cNvSpPr txBox="1"/>
          <p:nvPr/>
        </p:nvSpPr>
        <p:spPr>
          <a:xfrm>
            <a:off x="566928" y="4571999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Transaction Date + 3 days</a:t>
            </a:r>
            <a:endParaRPr/>
          </a:p>
        </p:txBody>
      </p:sp>
      <p:sp>
        <p:nvSpPr>
          <p:cNvPr id="508" name="Google Shape;508;p11"/>
          <p:cNvSpPr/>
          <p:nvPr/>
        </p:nvSpPr>
        <p:spPr>
          <a:xfrm>
            <a:off x="256032" y="5065775"/>
            <a:ext cx="11676888" cy="868680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1"/>
          <p:cNvSpPr/>
          <p:nvPr/>
        </p:nvSpPr>
        <p:spPr>
          <a:xfrm>
            <a:off x="256032" y="5065775"/>
            <a:ext cx="201168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1"/>
          <p:cNvSpPr txBox="1"/>
          <p:nvPr/>
        </p:nvSpPr>
        <p:spPr>
          <a:xfrm>
            <a:off x="566928" y="5157215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Order_Reference</a:t>
            </a:r>
            <a:endParaRPr/>
          </a:p>
        </p:txBody>
      </p:sp>
      <p:sp>
        <p:nvSpPr>
          <p:cNvPr id="511" name="Google Shape;511;p11"/>
          <p:cNvSpPr txBox="1"/>
          <p:nvPr/>
        </p:nvSpPr>
        <p:spPr>
          <a:xfrm>
            <a:off x="566928" y="5157215"/>
            <a:ext cx="11155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Lookup Key</a:t>
            </a:r>
            <a:endParaRPr/>
          </a:p>
        </p:txBody>
      </p:sp>
      <p:sp>
        <p:nvSpPr>
          <p:cNvPr id="512" name="Google Shape;512;p11"/>
          <p:cNvSpPr txBox="1"/>
          <p:nvPr/>
        </p:nvSpPr>
        <p:spPr>
          <a:xfrm>
            <a:off x="566928" y="5568695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CustomerID  +  '-'  +  LOCATION  (e.g. CUST_09-ONLINE)</a:t>
            </a:r>
            <a:endParaRPr/>
          </a:p>
        </p:txBody>
      </p:sp>
      <p:sp>
        <p:nvSpPr>
          <p:cNvPr id="513" name="Google Shape;513;p11"/>
          <p:cNvSpPr/>
          <p:nvPr/>
        </p:nvSpPr>
        <p:spPr>
          <a:xfrm>
            <a:off x="256032" y="6062471"/>
            <a:ext cx="11676888" cy="566928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1"/>
          <p:cNvSpPr txBox="1"/>
          <p:nvPr/>
        </p:nvSpPr>
        <p:spPr>
          <a:xfrm>
            <a:off x="475488" y="6117335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Back-up Validator checks: </a:t>
            </a:r>
            <a:endParaRPr/>
          </a:p>
        </p:txBody>
      </p:sp>
      <p:sp>
        <p:nvSpPr>
          <p:cNvPr id="515" name="Google Shape;515;p11"/>
          <p:cNvSpPr txBox="1"/>
          <p:nvPr/>
        </p:nvSpPr>
        <p:spPr>
          <a:xfrm>
            <a:off x="3063240" y="6117335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no nulls in new cols  ·  VAT ≥ 0  ·  delivery date after transaction date  ·  schema = exactly 16 columns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2"/>
          <p:cNvSpPr txBox="1"/>
          <p:nvPr/>
        </p:nvSpPr>
        <p:spPr>
          <a:xfrm>
            <a:off x="320040" y="73152"/>
            <a:ext cx="11430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Infrastructure</a:t>
            </a:r>
            <a:endParaRPr/>
          </a:p>
        </p:txBody>
      </p:sp>
      <p:sp>
        <p:nvSpPr>
          <p:cNvPr id="522" name="Google Shape;522;p12"/>
          <p:cNvSpPr txBox="1"/>
          <p:nvPr/>
        </p:nvSpPr>
        <p:spPr>
          <a:xfrm>
            <a:off x="320040" y="603504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Docker Compose · Apache Airflow · Azure Blob Storage</a:t>
            </a:r>
            <a:endParaRPr/>
          </a:p>
        </p:txBody>
      </p:sp>
      <p:sp>
        <p:nvSpPr>
          <p:cNvPr id="523" name="Google Shape;523;p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 txBox="1"/>
          <p:nvPr/>
        </p:nvSpPr>
        <p:spPr>
          <a:xfrm>
            <a:off x="320040" y="6556248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Salina Giri , Zakaria Shahruri ·  Data Engineering  ·  Year 2 Semester 2  ·  5 May 2026</a:t>
            </a:r>
            <a:endParaRPr/>
          </a:p>
        </p:txBody>
      </p:sp>
      <p:sp>
        <p:nvSpPr>
          <p:cNvPr id="525" name="Google Shape;525;p12"/>
          <p:cNvSpPr txBox="1"/>
          <p:nvPr/>
        </p:nvSpPr>
        <p:spPr>
          <a:xfrm>
            <a:off x="320040" y="107899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Docker Compose</a:t>
            </a:r>
            <a:endParaRPr/>
          </a:p>
        </p:txBody>
      </p:sp>
      <p:sp>
        <p:nvSpPr>
          <p:cNvPr id="526" name="Google Shape;526;p12"/>
          <p:cNvSpPr/>
          <p:nvPr/>
        </p:nvSpPr>
        <p:spPr>
          <a:xfrm>
            <a:off x="320040" y="1536192"/>
            <a:ext cx="5577840" cy="987552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2"/>
          <p:cNvSpPr/>
          <p:nvPr/>
        </p:nvSpPr>
        <p:spPr>
          <a:xfrm>
            <a:off x="320040" y="1536192"/>
            <a:ext cx="182880" cy="987552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 txBox="1"/>
          <p:nvPr/>
        </p:nvSpPr>
        <p:spPr>
          <a:xfrm>
            <a:off x="621792" y="1627632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postgres</a:t>
            </a:r>
            <a:endParaRPr/>
          </a:p>
        </p:txBody>
      </p:sp>
      <p:sp>
        <p:nvSpPr>
          <p:cNvPr id="529" name="Google Shape;529;p12"/>
          <p:cNvSpPr txBox="1"/>
          <p:nvPr/>
        </p:nvSpPr>
        <p:spPr>
          <a:xfrm>
            <a:off x="621792" y="2029967"/>
            <a:ext cx="5120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Airflow metadata DB — stores DAG runs, task states, logs</a:t>
            </a:r>
            <a:endParaRPr/>
          </a:p>
        </p:txBody>
      </p:sp>
      <p:sp>
        <p:nvSpPr>
          <p:cNvPr id="530" name="Google Shape;530;p12"/>
          <p:cNvSpPr/>
          <p:nvPr/>
        </p:nvSpPr>
        <p:spPr>
          <a:xfrm>
            <a:off x="320040" y="2651760"/>
            <a:ext cx="5577840" cy="987552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320040" y="2651760"/>
            <a:ext cx="182880" cy="98755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2"/>
          <p:cNvSpPr txBox="1"/>
          <p:nvPr/>
        </p:nvSpPr>
        <p:spPr>
          <a:xfrm>
            <a:off x="621792" y="2743200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airflow-scheduler</a:t>
            </a:r>
            <a:endParaRPr/>
          </a:p>
        </p:txBody>
      </p:sp>
      <p:sp>
        <p:nvSpPr>
          <p:cNvPr id="533" name="Google Shape;533;p12"/>
          <p:cNvSpPr txBox="1"/>
          <p:nvPr/>
        </p:nvSpPr>
        <p:spPr>
          <a:xfrm>
            <a:off x="621792" y="3145536"/>
            <a:ext cx="5120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Triggers tasks on schedule — health-checked every 30s</a:t>
            </a:r>
            <a:endParaRPr/>
          </a:p>
        </p:txBody>
      </p:sp>
      <p:sp>
        <p:nvSpPr>
          <p:cNvPr id="534" name="Google Shape;534;p12"/>
          <p:cNvSpPr/>
          <p:nvPr/>
        </p:nvSpPr>
        <p:spPr>
          <a:xfrm>
            <a:off x="320040" y="3767328"/>
            <a:ext cx="5577840" cy="987552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320040" y="3767328"/>
            <a:ext cx="182880" cy="987552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2"/>
          <p:cNvSpPr txBox="1"/>
          <p:nvPr/>
        </p:nvSpPr>
        <p:spPr>
          <a:xfrm>
            <a:off x="621792" y="3858768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airflow-webserver</a:t>
            </a:r>
            <a:endParaRPr/>
          </a:p>
        </p:txBody>
      </p:sp>
      <p:sp>
        <p:nvSpPr>
          <p:cNvPr id="537" name="Google Shape;537;p12"/>
          <p:cNvSpPr txBox="1"/>
          <p:nvPr/>
        </p:nvSpPr>
        <p:spPr>
          <a:xfrm>
            <a:off x="621792" y="4261104"/>
            <a:ext cx="5120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UI at http://localhost:8080 — monitor, trigger, view logs</a:t>
            </a:r>
            <a:endParaRPr/>
          </a:p>
        </p:txBody>
      </p:sp>
      <p:sp>
        <p:nvSpPr>
          <p:cNvPr id="538" name="Google Shape;538;p12"/>
          <p:cNvSpPr/>
          <p:nvPr/>
        </p:nvSpPr>
        <p:spPr>
          <a:xfrm>
            <a:off x="320040" y="4882896"/>
            <a:ext cx="5577840" cy="749808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2"/>
          <p:cNvSpPr txBox="1"/>
          <p:nvPr/>
        </p:nvSpPr>
        <p:spPr>
          <a:xfrm>
            <a:off x="502920" y="4974336"/>
            <a:ext cx="5303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Volume mounts share local files into Docker — drop a file locally,</a:t>
            </a:r>
            <a:br>
              <a:rPr b="0" i="0"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Airflow inside the container sees it instantly.</a:t>
            </a:r>
            <a:endParaRPr/>
          </a:p>
        </p:txBody>
      </p:sp>
      <p:sp>
        <p:nvSpPr>
          <p:cNvPr id="540" name="Google Shape;540;p12"/>
          <p:cNvSpPr/>
          <p:nvPr/>
        </p:nvSpPr>
        <p:spPr>
          <a:xfrm>
            <a:off x="6199632" y="1051560"/>
            <a:ext cx="45720" cy="52578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2"/>
          <p:cNvSpPr txBox="1"/>
          <p:nvPr/>
        </p:nvSpPr>
        <p:spPr>
          <a:xfrm>
            <a:off x="6473952" y="1078992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Azure Blob Storage</a:t>
            </a:r>
            <a:endParaRPr/>
          </a:p>
        </p:txBody>
      </p:sp>
      <p:sp>
        <p:nvSpPr>
          <p:cNvPr id="542" name="Google Shape;542;p12"/>
          <p:cNvSpPr/>
          <p:nvPr/>
        </p:nvSpPr>
        <p:spPr>
          <a:xfrm>
            <a:off x="6473952" y="1536192"/>
            <a:ext cx="5413248" cy="1234440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6473952" y="1536192"/>
            <a:ext cx="182880" cy="123444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2"/>
          <p:cNvSpPr txBox="1"/>
          <p:nvPr/>
        </p:nvSpPr>
        <p:spPr>
          <a:xfrm>
            <a:off x="6784848" y="1627632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taxiproject</a:t>
            </a:r>
            <a:endParaRPr/>
          </a:p>
        </p:txBody>
      </p:sp>
      <p:sp>
        <p:nvSpPr>
          <p:cNvPr id="545" name="Google Shape;545;p12"/>
          <p:cNvSpPr txBox="1"/>
          <p:nvPr/>
        </p:nvSpPr>
        <p:spPr>
          <a:xfrm>
            <a:off x="6784848" y="201168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/>
          </a:p>
        </p:txBody>
      </p:sp>
      <p:sp>
        <p:nvSpPr>
          <p:cNvPr id="546" name="Google Shape;546;p12"/>
          <p:cNvSpPr txBox="1"/>
          <p:nvPr/>
        </p:nvSpPr>
        <p:spPr>
          <a:xfrm>
            <a:off x="6784848" y="235915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processed_taxi_data.parquet + rejected CSVs</a:t>
            </a:r>
            <a:endParaRPr/>
          </a:p>
        </p:txBody>
      </p:sp>
      <p:sp>
        <p:nvSpPr>
          <p:cNvPr id="547" name="Google Shape;547;p12"/>
          <p:cNvSpPr/>
          <p:nvPr/>
        </p:nvSpPr>
        <p:spPr>
          <a:xfrm>
            <a:off x="6473952" y="2926080"/>
            <a:ext cx="5413248" cy="1234440"/>
          </a:xfrm>
          <a:prstGeom prst="roundRect">
            <a:avLst>
              <a:gd fmla="val 16667" name="adj"/>
            </a:avLst>
          </a:prstGeom>
          <a:solidFill>
            <a:srgbClr val="F1F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2"/>
          <p:cNvSpPr/>
          <p:nvPr/>
        </p:nvSpPr>
        <p:spPr>
          <a:xfrm>
            <a:off x="6473952" y="2926080"/>
            <a:ext cx="182880" cy="123444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2"/>
          <p:cNvSpPr txBox="1"/>
          <p:nvPr/>
        </p:nvSpPr>
        <p:spPr>
          <a:xfrm>
            <a:off x="6784848" y="3017520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inventory-output</a:t>
            </a:r>
            <a:endParaRPr/>
          </a:p>
        </p:txBody>
      </p:sp>
      <p:sp>
        <p:nvSpPr>
          <p:cNvPr id="550" name="Google Shape;550;p12"/>
          <p:cNvSpPr txBox="1"/>
          <p:nvPr/>
        </p:nvSpPr>
        <p:spPr>
          <a:xfrm>
            <a:off x="6784848" y="340156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Part 2</a:t>
            </a:r>
            <a:endParaRPr/>
          </a:p>
        </p:txBody>
      </p:sp>
      <p:sp>
        <p:nvSpPr>
          <p:cNvPr id="551" name="Google Shape;551;p12"/>
          <p:cNvSpPr txBox="1"/>
          <p:nvPr/>
        </p:nvSpPr>
        <p:spPr>
          <a:xfrm>
            <a:off x="6784848" y="374904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&lt;filename&gt;_processed.csv</a:t>
            </a:r>
            <a:endParaRPr/>
          </a:p>
        </p:txBody>
      </p:sp>
      <p:sp>
        <p:nvSpPr>
          <p:cNvPr id="552" name="Google Shape;552;p12"/>
          <p:cNvSpPr/>
          <p:nvPr/>
        </p:nvSpPr>
        <p:spPr>
          <a:xfrm>
            <a:off x="6473952" y="4315968"/>
            <a:ext cx="5413248" cy="13716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2"/>
          <p:cNvSpPr txBox="1"/>
          <p:nvPr/>
        </p:nvSpPr>
        <p:spPr>
          <a:xfrm>
            <a:off x="6675120" y="442569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Credentials &amp; Security</a:t>
            </a:r>
            <a:endParaRPr/>
          </a:p>
        </p:txBody>
      </p:sp>
      <p:sp>
        <p:nvSpPr>
          <p:cNvPr id="554" name="Google Shape;554;p12"/>
          <p:cNvSpPr txBox="1"/>
          <p:nvPr/>
        </p:nvSpPr>
        <p:spPr>
          <a:xfrm>
            <a:off x="6675120" y="4736592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AZURE_STORAGE_CONNECTION_STRING stored in .env files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Loaded at runtime by python-dotenv — never hardcoded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Containers created automatically on first run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3"/>
          <p:cNvSpPr txBox="1"/>
          <p:nvPr/>
        </p:nvSpPr>
        <p:spPr>
          <a:xfrm>
            <a:off x="320040" y="73152"/>
            <a:ext cx="11430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Apache Airflow — Orchestration Engine</a:t>
            </a:r>
            <a:endParaRPr/>
          </a:p>
        </p:txBody>
      </p:sp>
      <p:sp>
        <p:nvSpPr>
          <p:cNvPr id="561" name="Google Shape;561;p13"/>
          <p:cNvSpPr txBox="1"/>
          <p:nvPr/>
        </p:nvSpPr>
        <p:spPr>
          <a:xfrm>
            <a:off x="320040" y="603504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Open-source platform to author, schedule, and monitor data pipelines as code</a:t>
            </a:r>
            <a:endParaRPr/>
          </a:p>
        </p:txBody>
      </p:sp>
      <p:sp>
        <p:nvSpPr>
          <p:cNvPr id="562" name="Google Shape;562;p13"/>
          <p:cNvSpPr/>
          <p:nvPr/>
        </p:nvSpPr>
        <p:spPr>
          <a:xfrm>
            <a:off x="0" y="960120"/>
            <a:ext cx="12188952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3"/>
          <p:cNvSpPr txBox="1"/>
          <p:nvPr/>
        </p:nvSpPr>
        <p:spPr>
          <a:xfrm>
            <a:off x="365760" y="1024128"/>
            <a:ext cx="11430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Airflow 2.9 running inside Docker  ·  DAGs written in Python  ·  UI at localhost:8080</a:t>
            </a:r>
            <a:endParaRPr/>
          </a:p>
        </p:txBody>
      </p:sp>
      <p:sp>
        <p:nvSpPr>
          <p:cNvPr id="564" name="Google Shape;564;p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3"/>
          <p:cNvSpPr txBox="1"/>
          <p:nvPr/>
        </p:nvSpPr>
        <p:spPr>
          <a:xfrm>
            <a:off x="320040" y="6556248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Salina Giri </a:t>
            </a: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, Zakaria Shahruri</a:t>
            </a:r>
            <a:r>
              <a:rPr b="0" i="0"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·  Data Engineering  ·  Year 2 Semester 2  ·  5 May 2026</a:t>
            </a:r>
            <a:endParaRPr/>
          </a:p>
        </p:txBody>
      </p:sp>
      <p:sp>
        <p:nvSpPr>
          <p:cNvPr id="566" name="Google Shape;566;p13"/>
          <p:cNvSpPr/>
          <p:nvPr/>
        </p:nvSpPr>
        <p:spPr>
          <a:xfrm>
            <a:off x="274320" y="1497320"/>
            <a:ext cx="3803904" cy="280000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3"/>
          <p:cNvSpPr/>
          <p:nvPr/>
        </p:nvSpPr>
        <p:spPr>
          <a:xfrm>
            <a:off x="274320" y="1497320"/>
            <a:ext cx="3803904" cy="300000"/>
          </a:xfrm>
          <a:prstGeom prst="roundRect">
            <a:avLst>
              <a:gd fmla="val 1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3"/>
          <p:cNvSpPr txBox="1"/>
          <p:nvPr/>
        </p:nvSpPr>
        <p:spPr>
          <a:xfrm>
            <a:off x="365760" y="1557320"/>
            <a:ext cx="3621024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a DAG?</a:t>
            </a:r>
            <a:endParaRPr/>
          </a:p>
        </p:txBody>
      </p:sp>
      <p:sp>
        <p:nvSpPr>
          <p:cNvPr id="569" name="Google Shape;569;p13"/>
          <p:cNvSpPr txBox="1"/>
          <p:nvPr/>
        </p:nvSpPr>
        <p:spPr>
          <a:xfrm>
            <a:off x="365760" y="1857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DAG = Directed Acyclic Graph</a:t>
            </a:r>
            <a:endParaRPr/>
          </a:p>
        </p:txBody>
      </p:sp>
      <p:sp>
        <p:nvSpPr>
          <p:cNvPr id="570" name="Google Shape;570;p13"/>
          <p:cNvSpPr txBox="1"/>
          <p:nvPr/>
        </p:nvSpPr>
        <p:spPr>
          <a:xfrm>
            <a:off x="365760" y="2042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DAG is a Python file that defines</a:t>
            </a:r>
            <a:endParaRPr/>
          </a:p>
        </p:txBody>
      </p:sp>
      <p:sp>
        <p:nvSpPr>
          <p:cNvPr id="571" name="Google Shape;571;p13"/>
          <p:cNvSpPr txBox="1"/>
          <p:nvPr/>
        </p:nvSpPr>
        <p:spPr>
          <a:xfrm>
            <a:off x="365760" y="2227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tasks and their dependencies</a:t>
            </a:r>
            <a:endParaRPr/>
          </a:p>
        </p:txBody>
      </p:sp>
      <p:sp>
        <p:nvSpPr>
          <p:cNvPr id="572" name="Google Shape;572;p13"/>
          <p:cNvSpPr txBox="1"/>
          <p:nvPr/>
        </p:nvSpPr>
        <p:spPr>
          <a:xfrm>
            <a:off x="365760" y="2412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3"/>
          <p:cNvSpPr txBox="1"/>
          <p:nvPr/>
        </p:nvSpPr>
        <p:spPr>
          <a:xfrm>
            <a:off x="365760" y="2597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task = one pipeline stage</a:t>
            </a:r>
            <a:endParaRPr/>
          </a:p>
        </p:txBody>
      </p:sp>
      <p:sp>
        <p:nvSpPr>
          <p:cNvPr id="574" name="Google Shape;574;p13"/>
          <p:cNvSpPr txBox="1"/>
          <p:nvPr/>
        </p:nvSpPr>
        <p:spPr>
          <a:xfrm>
            <a:off x="365760" y="2782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(read, validate, process...)</a:t>
            </a:r>
            <a:endParaRPr/>
          </a:p>
        </p:txBody>
      </p:sp>
      <p:sp>
        <p:nvSpPr>
          <p:cNvPr id="575" name="Google Shape;575;p13"/>
          <p:cNvSpPr txBox="1"/>
          <p:nvPr/>
        </p:nvSpPr>
        <p:spPr>
          <a:xfrm>
            <a:off x="365760" y="2967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3"/>
          <p:cNvSpPr txBox="1"/>
          <p:nvPr/>
        </p:nvSpPr>
        <p:spPr>
          <a:xfrm>
            <a:off x="365760" y="3152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Airflow reads DAG files from the</a:t>
            </a:r>
            <a:endParaRPr/>
          </a:p>
        </p:txBody>
      </p:sp>
      <p:sp>
        <p:nvSpPr>
          <p:cNvPr id="577" name="Google Shape;577;p13"/>
          <p:cNvSpPr txBox="1"/>
          <p:nvPr/>
        </p:nvSpPr>
        <p:spPr>
          <a:xfrm>
            <a:off x="365760" y="3337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dags/ folder every few seconds</a:t>
            </a:r>
            <a:endParaRPr/>
          </a:p>
        </p:txBody>
      </p:sp>
      <p:sp>
        <p:nvSpPr>
          <p:cNvPr id="578" name="Google Shape;578;p13"/>
          <p:cNvSpPr txBox="1"/>
          <p:nvPr/>
        </p:nvSpPr>
        <p:spPr>
          <a:xfrm>
            <a:off x="365760" y="3522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3"/>
          <p:cNvSpPr txBox="1"/>
          <p:nvPr/>
        </p:nvSpPr>
        <p:spPr>
          <a:xfrm>
            <a:off x="365760" y="3707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Tasks run in the defined order;</a:t>
            </a:r>
            <a:endParaRPr/>
          </a:p>
        </p:txBody>
      </p:sp>
      <p:sp>
        <p:nvSpPr>
          <p:cNvPr id="580" name="Google Shape;580;p13"/>
          <p:cNvSpPr txBox="1"/>
          <p:nvPr/>
        </p:nvSpPr>
        <p:spPr>
          <a:xfrm>
            <a:off x="365760" y="3892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failed task stops the chain</a:t>
            </a:r>
            <a:endParaRPr/>
          </a:p>
        </p:txBody>
      </p:sp>
      <p:sp>
        <p:nvSpPr>
          <p:cNvPr id="581" name="Google Shape;581;p13"/>
          <p:cNvSpPr/>
          <p:nvPr/>
        </p:nvSpPr>
        <p:spPr>
          <a:xfrm>
            <a:off x="4169664" y="1497320"/>
            <a:ext cx="3803904" cy="280000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3"/>
          <p:cNvSpPr/>
          <p:nvPr/>
        </p:nvSpPr>
        <p:spPr>
          <a:xfrm>
            <a:off x="4169664" y="1497320"/>
            <a:ext cx="3803904" cy="300000"/>
          </a:xfrm>
          <a:prstGeom prst="roundRect">
            <a:avLst>
              <a:gd fmla="val 15000" name="adj"/>
            </a:avLst>
          </a:prstGeom>
          <a:solidFill>
            <a:srgbClr val="0096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3"/>
          <p:cNvSpPr txBox="1"/>
          <p:nvPr/>
        </p:nvSpPr>
        <p:spPr>
          <a:xfrm>
            <a:off x="4261104" y="1557320"/>
            <a:ext cx="3621024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Operators Used</a:t>
            </a:r>
            <a:endParaRPr/>
          </a:p>
        </p:txBody>
      </p:sp>
      <p:sp>
        <p:nvSpPr>
          <p:cNvPr id="584" name="Google Shape;584;p13"/>
          <p:cNvSpPr txBox="1"/>
          <p:nvPr/>
        </p:nvSpPr>
        <p:spPr>
          <a:xfrm>
            <a:off x="4261104" y="1857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PythonOperator</a:t>
            </a:r>
            <a:endParaRPr/>
          </a:p>
        </p:txBody>
      </p:sp>
      <p:sp>
        <p:nvSpPr>
          <p:cNvPr id="585" name="Google Shape;585;p13"/>
          <p:cNvSpPr txBox="1"/>
          <p:nvPr/>
        </p:nvSpPr>
        <p:spPr>
          <a:xfrm>
            <a:off x="4261104" y="2042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→ runs any Python function</a:t>
            </a:r>
            <a:endParaRPr/>
          </a:p>
        </p:txBody>
      </p:sp>
      <p:sp>
        <p:nvSpPr>
          <p:cNvPr id="586" name="Google Shape;586;p13"/>
          <p:cNvSpPr txBox="1"/>
          <p:nvPr/>
        </p:nvSpPr>
        <p:spPr>
          <a:xfrm>
            <a:off x="4261104" y="2227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→ used for all pipeline stages</a:t>
            </a:r>
            <a:endParaRPr/>
          </a:p>
        </p:txBody>
      </p:sp>
      <p:sp>
        <p:nvSpPr>
          <p:cNvPr id="587" name="Google Shape;587;p13"/>
          <p:cNvSpPr txBox="1"/>
          <p:nvPr/>
        </p:nvSpPr>
        <p:spPr>
          <a:xfrm>
            <a:off x="4261104" y="2412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3"/>
          <p:cNvSpPr txBox="1"/>
          <p:nvPr/>
        </p:nvSpPr>
        <p:spPr>
          <a:xfrm>
            <a:off x="4261104" y="2597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ShortCircuitOperator (Part 2)</a:t>
            </a:r>
            <a:endParaRPr/>
          </a:p>
        </p:txBody>
      </p:sp>
      <p:sp>
        <p:nvSpPr>
          <p:cNvPr id="589" name="Google Shape;589;p13"/>
          <p:cNvSpPr txBox="1"/>
          <p:nvPr/>
        </p:nvSpPr>
        <p:spPr>
          <a:xfrm>
            <a:off x="4261104" y="2782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→ skips all downstream tasks</a:t>
            </a:r>
            <a:endParaRPr/>
          </a:p>
        </p:txBody>
      </p:sp>
      <p:sp>
        <p:nvSpPr>
          <p:cNvPr id="590" name="Google Shape;590;p13"/>
          <p:cNvSpPr txBox="1"/>
          <p:nvPr/>
        </p:nvSpPr>
        <p:spPr>
          <a:xfrm>
            <a:off x="4261104" y="2967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if condition returns False</a:t>
            </a:r>
            <a:endParaRPr/>
          </a:p>
        </p:txBody>
      </p:sp>
      <p:sp>
        <p:nvSpPr>
          <p:cNvPr id="591" name="Google Shape;591;p13"/>
          <p:cNvSpPr txBox="1"/>
          <p:nvPr/>
        </p:nvSpPr>
        <p:spPr>
          <a:xfrm>
            <a:off x="4261104" y="3152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→ used to skip when no file</a:t>
            </a:r>
            <a:endParaRPr/>
          </a:p>
        </p:txBody>
      </p:sp>
      <p:sp>
        <p:nvSpPr>
          <p:cNvPr id="592" name="Google Shape;592;p13"/>
          <p:cNvSpPr txBox="1"/>
          <p:nvPr/>
        </p:nvSpPr>
        <p:spPr>
          <a:xfrm>
            <a:off x="4261104" y="3337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is waiting in input_zone/</a:t>
            </a:r>
            <a:endParaRPr/>
          </a:p>
        </p:txBody>
      </p:sp>
      <p:sp>
        <p:nvSpPr>
          <p:cNvPr id="593" name="Google Shape;593;p13"/>
          <p:cNvSpPr txBox="1"/>
          <p:nvPr/>
        </p:nvSpPr>
        <p:spPr>
          <a:xfrm>
            <a:off x="4261104" y="3522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3"/>
          <p:cNvSpPr txBox="1"/>
          <p:nvPr/>
        </p:nvSpPr>
        <p:spPr>
          <a:xfrm>
            <a:off x="4261104" y="3707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Schedule: @once (Part 1)</a:t>
            </a:r>
            <a:endParaRPr/>
          </a:p>
        </p:txBody>
      </p:sp>
      <p:sp>
        <p:nvSpPr>
          <p:cNvPr id="595" name="Google Shape;595;p13"/>
          <p:cNvSpPr txBox="1"/>
          <p:nvPr/>
        </p:nvSpPr>
        <p:spPr>
          <a:xfrm>
            <a:off x="4261104" y="3892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Schedule: */5 * * * * (Part 2)</a:t>
            </a:r>
            <a:endParaRPr/>
          </a:p>
        </p:txBody>
      </p:sp>
      <p:sp>
        <p:nvSpPr>
          <p:cNvPr id="596" name="Google Shape;596;p13"/>
          <p:cNvSpPr/>
          <p:nvPr/>
        </p:nvSpPr>
        <p:spPr>
          <a:xfrm>
            <a:off x="8065008" y="1497320"/>
            <a:ext cx="3803904" cy="280000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3"/>
          <p:cNvSpPr/>
          <p:nvPr/>
        </p:nvSpPr>
        <p:spPr>
          <a:xfrm>
            <a:off x="8065008" y="1497320"/>
            <a:ext cx="3803904" cy="300000"/>
          </a:xfrm>
          <a:prstGeom prst="roundRect">
            <a:avLst>
              <a:gd fmla="val 15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3"/>
          <p:cNvSpPr txBox="1"/>
          <p:nvPr/>
        </p:nvSpPr>
        <p:spPr>
          <a:xfrm>
            <a:off x="8156448" y="1557320"/>
            <a:ext cx="3621024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Airflow Web UI</a:t>
            </a:r>
            <a:endParaRPr/>
          </a:p>
        </p:txBody>
      </p:sp>
      <p:sp>
        <p:nvSpPr>
          <p:cNvPr id="599" name="Google Shape;599;p13"/>
          <p:cNvSpPr txBox="1"/>
          <p:nvPr/>
        </p:nvSpPr>
        <p:spPr>
          <a:xfrm>
            <a:off x="8156448" y="1857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URL: http://localhost:8080</a:t>
            </a:r>
            <a:endParaRPr/>
          </a:p>
        </p:txBody>
      </p:sp>
      <p:sp>
        <p:nvSpPr>
          <p:cNvPr id="600" name="Google Shape;600;p13"/>
          <p:cNvSpPr txBox="1"/>
          <p:nvPr/>
        </p:nvSpPr>
        <p:spPr>
          <a:xfrm>
            <a:off x="8156448" y="2042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Login: admin / admin</a:t>
            </a:r>
            <a:endParaRPr/>
          </a:p>
        </p:txBody>
      </p:sp>
      <p:sp>
        <p:nvSpPr>
          <p:cNvPr id="601" name="Google Shape;601;p13"/>
          <p:cNvSpPr txBox="1"/>
          <p:nvPr/>
        </p:nvSpPr>
        <p:spPr>
          <a:xfrm>
            <a:off x="8156448" y="2227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3"/>
          <p:cNvSpPr txBox="1"/>
          <p:nvPr/>
        </p:nvSpPr>
        <p:spPr>
          <a:xfrm>
            <a:off x="8156448" y="2412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From the UI you can:</a:t>
            </a:r>
            <a:endParaRPr/>
          </a:p>
        </p:txBody>
      </p:sp>
      <p:sp>
        <p:nvSpPr>
          <p:cNvPr id="603" name="Google Shape;603;p13"/>
          <p:cNvSpPr txBox="1"/>
          <p:nvPr/>
        </p:nvSpPr>
        <p:spPr>
          <a:xfrm>
            <a:off x="8156448" y="2597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→ See all DAGs and their status</a:t>
            </a:r>
            <a:endParaRPr/>
          </a:p>
        </p:txBody>
      </p:sp>
      <p:sp>
        <p:nvSpPr>
          <p:cNvPr id="604" name="Google Shape;604;p13"/>
          <p:cNvSpPr txBox="1"/>
          <p:nvPr/>
        </p:nvSpPr>
        <p:spPr>
          <a:xfrm>
            <a:off x="8156448" y="2782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→ Trigger a manual DAG run</a:t>
            </a:r>
            <a:endParaRPr/>
          </a:p>
        </p:txBody>
      </p:sp>
      <p:sp>
        <p:nvSpPr>
          <p:cNvPr id="605" name="Google Shape;605;p13"/>
          <p:cNvSpPr txBox="1"/>
          <p:nvPr/>
        </p:nvSpPr>
        <p:spPr>
          <a:xfrm>
            <a:off x="8156448" y="2967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→ View task logs in real time</a:t>
            </a:r>
            <a:endParaRPr/>
          </a:p>
        </p:txBody>
      </p:sp>
      <p:sp>
        <p:nvSpPr>
          <p:cNvPr id="606" name="Google Shape;606;p13"/>
          <p:cNvSpPr txBox="1"/>
          <p:nvPr/>
        </p:nvSpPr>
        <p:spPr>
          <a:xfrm>
            <a:off x="8156448" y="3152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→ Pause/unpause schedules</a:t>
            </a:r>
            <a:endParaRPr/>
          </a:p>
        </p:txBody>
      </p:sp>
      <p:sp>
        <p:nvSpPr>
          <p:cNvPr id="607" name="Google Shape;607;p13"/>
          <p:cNvSpPr txBox="1"/>
          <p:nvPr/>
        </p:nvSpPr>
        <p:spPr>
          <a:xfrm>
            <a:off x="8156448" y="3337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→ Inspect task dependency graph</a:t>
            </a:r>
            <a:endParaRPr/>
          </a:p>
        </p:txBody>
      </p:sp>
      <p:sp>
        <p:nvSpPr>
          <p:cNvPr id="608" name="Google Shape;608;p13"/>
          <p:cNvSpPr txBox="1"/>
          <p:nvPr/>
        </p:nvSpPr>
        <p:spPr>
          <a:xfrm>
            <a:off x="8156448" y="3522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3"/>
          <p:cNvSpPr txBox="1"/>
          <p:nvPr/>
        </p:nvSpPr>
        <p:spPr>
          <a:xfrm>
            <a:off x="8156448" y="3707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Grid view shows every task run</a:t>
            </a:r>
            <a:endParaRPr/>
          </a:p>
        </p:txBody>
      </p:sp>
      <p:sp>
        <p:nvSpPr>
          <p:cNvPr id="610" name="Google Shape;610;p13"/>
          <p:cNvSpPr txBox="1"/>
          <p:nvPr/>
        </p:nvSpPr>
        <p:spPr>
          <a:xfrm>
            <a:off x="8156448" y="3892320"/>
            <a:ext cx="3621024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coloured green/red for pass/fail</a:t>
            </a:r>
            <a:endParaRPr/>
          </a:p>
        </p:txBody>
      </p:sp>
      <p:sp>
        <p:nvSpPr>
          <p:cNvPr id="611" name="Google Shape;611;p13"/>
          <p:cNvSpPr/>
          <p:nvPr/>
        </p:nvSpPr>
        <p:spPr>
          <a:xfrm>
            <a:off x="274320" y="4377320"/>
            <a:ext cx="11640312" cy="700000"/>
          </a:xfrm>
          <a:prstGeom prst="roundRect">
            <a:avLst>
              <a:gd fmla="val 10000" name="adj"/>
            </a:avLst>
          </a:prstGeom>
          <a:solidFill>
            <a:srgbClr val="131E3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3"/>
          <p:cNvSpPr txBox="1"/>
          <p:nvPr/>
        </p:nvSpPr>
        <p:spPr>
          <a:xfrm>
            <a:off x="365760" y="4437320"/>
            <a:ext cx="11457432" cy="5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@dag(schedule='@once', start_date=datetime(2025,1,1), catchup=False)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def part1_batch_taxi_pipeline():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  t1 = PythonOperator(task_id='read_data',     python_callable=reader.read)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  t2 = PythonOperator(task_id='validate_data', python_callable=validator.validate)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  t3 = PythonOperator(task_id='process_data',  python_callable=processor.process)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  t1 &gt;&gt; t2 &gt;&gt; t3  # task dependency chain</a:t>
            </a:r>
            <a:endParaRPr/>
          </a:p>
        </p:txBody>
      </p:sp>
      <p:sp>
        <p:nvSpPr>
          <p:cNvPr id="613" name="Google Shape;613;p13"/>
          <p:cNvSpPr/>
          <p:nvPr/>
        </p:nvSpPr>
        <p:spPr>
          <a:xfrm>
            <a:off x="274320" y="6257960"/>
            <a:ext cx="11640312" cy="240000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3"/>
          <p:cNvSpPr txBox="1"/>
          <p:nvPr/>
        </p:nvSpPr>
        <p:spPr>
          <a:xfrm>
            <a:off x="365760" y="6317960"/>
            <a:ext cx="11457432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Airflow?  It separates orchestration from business logic — each stage is an independent Python function, making it easy to test, replace, or retry individual steps without re-running the whole pipeline.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4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4"/>
          <p:cNvSpPr txBox="1"/>
          <p:nvPr/>
        </p:nvSpPr>
        <p:spPr>
          <a:xfrm>
            <a:off x="320040" y="73152"/>
            <a:ext cx="11430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— Containerised Deployment</a:t>
            </a:r>
            <a:endParaRPr/>
          </a:p>
        </p:txBody>
      </p:sp>
      <p:sp>
        <p:nvSpPr>
          <p:cNvPr id="621" name="Google Shape;621;p14"/>
          <p:cNvSpPr txBox="1"/>
          <p:nvPr/>
        </p:nvSpPr>
        <p:spPr>
          <a:xfrm>
            <a:off x="320040" y="603504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Docker Compose runs three containers that together form the Airflow environment</a:t>
            </a:r>
            <a:endParaRPr/>
          </a:p>
        </p:txBody>
      </p:sp>
      <p:sp>
        <p:nvSpPr>
          <p:cNvPr id="622" name="Google Shape;622;p14"/>
          <p:cNvSpPr/>
          <p:nvPr/>
        </p:nvSpPr>
        <p:spPr>
          <a:xfrm>
            <a:off x="0" y="960120"/>
            <a:ext cx="12188952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4"/>
          <p:cNvSpPr txBox="1"/>
          <p:nvPr/>
        </p:nvSpPr>
        <p:spPr>
          <a:xfrm>
            <a:off x="365760" y="1024128"/>
            <a:ext cx="11430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compose up  →  Airflow is running in seconds, same on any machine</a:t>
            </a:r>
            <a:endParaRPr/>
          </a:p>
        </p:txBody>
      </p:sp>
      <p:sp>
        <p:nvSpPr>
          <p:cNvPr id="624" name="Google Shape;624;p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4"/>
          <p:cNvSpPr txBox="1"/>
          <p:nvPr/>
        </p:nvSpPr>
        <p:spPr>
          <a:xfrm>
            <a:off x="320040" y="6556248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Salina Giri , Zakaria Shahruri  ·  Data Engineering  ·  Year 2 Semester 2  ·  5 May 2026</a:t>
            </a:r>
            <a:endParaRPr/>
          </a:p>
        </p:txBody>
      </p:sp>
      <p:sp>
        <p:nvSpPr>
          <p:cNvPr id="626" name="Google Shape;626;p14"/>
          <p:cNvSpPr/>
          <p:nvPr/>
        </p:nvSpPr>
        <p:spPr>
          <a:xfrm>
            <a:off x="274320" y="1497320"/>
            <a:ext cx="5714436" cy="70000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4"/>
          <p:cNvSpPr/>
          <p:nvPr/>
        </p:nvSpPr>
        <p:spPr>
          <a:xfrm>
            <a:off x="274320" y="1497320"/>
            <a:ext cx="5714436" cy="300000"/>
          </a:xfrm>
          <a:prstGeom prst="roundRect">
            <a:avLst>
              <a:gd fmla="val 15000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4"/>
          <p:cNvSpPr txBox="1"/>
          <p:nvPr/>
        </p:nvSpPr>
        <p:spPr>
          <a:xfrm>
            <a:off x="365760" y="1557320"/>
            <a:ext cx="5531556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  (metadata database)</a:t>
            </a:r>
            <a:endParaRPr/>
          </a:p>
        </p:txBody>
      </p:sp>
      <p:sp>
        <p:nvSpPr>
          <p:cNvPr id="629" name="Google Shape;629;p14"/>
          <p:cNvSpPr txBox="1"/>
          <p:nvPr/>
        </p:nvSpPr>
        <p:spPr>
          <a:xfrm>
            <a:off x="365760" y="185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Stores all Airflow state: DAG runs, task logs, user sessions</a:t>
            </a:r>
            <a:endParaRPr/>
          </a:p>
        </p:txBody>
      </p:sp>
      <p:sp>
        <p:nvSpPr>
          <p:cNvPr id="630" name="Google Shape;630;p14"/>
          <p:cNvSpPr txBox="1"/>
          <p:nvPr/>
        </p:nvSpPr>
        <p:spPr>
          <a:xfrm>
            <a:off x="365760" y="204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Airflow needs a relational DB to track what ran when</a:t>
            </a:r>
            <a:endParaRPr/>
          </a:p>
        </p:txBody>
      </p:sp>
      <p:sp>
        <p:nvSpPr>
          <p:cNvPr id="631" name="Google Shape;631;p14"/>
          <p:cNvSpPr/>
          <p:nvPr/>
        </p:nvSpPr>
        <p:spPr>
          <a:xfrm>
            <a:off x="274320" y="2277320"/>
            <a:ext cx="5714436" cy="70000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4"/>
          <p:cNvSpPr/>
          <p:nvPr/>
        </p:nvSpPr>
        <p:spPr>
          <a:xfrm>
            <a:off x="274320" y="2277320"/>
            <a:ext cx="5714436" cy="300000"/>
          </a:xfrm>
          <a:prstGeom prst="roundRect">
            <a:avLst>
              <a:gd fmla="val 1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4"/>
          <p:cNvSpPr txBox="1"/>
          <p:nvPr/>
        </p:nvSpPr>
        <p:spPr>
          <a:xfrm>
            <a:off x="365760" y="2337320"/>
            <a:ext cx="5531556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airflow-scheduler  (the brain)</a:t>
            </a:r>
            <a:endParaRPr/>
          </a:p>
        </p:txBody>
      </p:sp>
      <p:sp>
        <p:nvSpPr>
          <p:cNvPr id="634" name="Google Shape;634;p14"/>
          <p:cNvSpPr txBox="1"/>
          <p:nvPr/>
        </p:nvSpPr>
        <p:spPr>
          <a:xfrm>
            <a:off x="365760" y="263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Reads DAG files, decides which tasks are due to run</a:t>
            </a:r>
            <a:endParaRPr/>
          </a:p>
        </p:txBody>
      </p:sp>
      <p:sp>
        <p:nvSpPr>
          <p:cNvPr id="635" name="Google Shape;635;p14"/>
          <p:cNvSpPr txBox="1"/>
          <p:nvPr/>
        </p:nvSpPr>
        <p:spPr>
          <a:xfrm>
            <a:off x="365760" y="282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Health-checked every 30 seconds; restarts if it crashes</a:t>
            </a:r>
            <a:endParaRPr/>
          </a:p>
        </p:txBody>
      </p:sp>
      <p:sp>
        <p:nvSpPr>
          <p:cNvPr id="636" name="Google Shape;636;p14"/>
          <p:cNvSpPr/>
          <p:nvPr/>
        </p:nvSpPr>
        <p:spPr>
          <a:xfrm>
            <a:off x="274320" y="3057320"/>
            <a:ext cx="5714436" cy="70000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4"/>
          <p:cNvSpPr/>
          <p:nvPr/>
        </p:nvSpPr>
        <p:spPr>
          <a:xfrm>
            <a:off x="274320" y="3057320"/>
            <a:ext cx="5714436" cy="300000"/>
          </a:xfrm>
          <a:prstGeom prst="roundRect">
            <a:avLst>
              <a:gd fmla="val 15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4"/>
          <p:cNvSpPr txBox="1"/>
          <p:nvPr/>
        </p:nvSpPr>
        <p:spPr>
          <a:xfrm>
            <a:off x="365760" y="3117320"/>
            <a:ext cx="5531556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airflow-webserver  (the UI)</a:t>
            </a:r>
            <a:endParaRPr/>
          </a:p>
        </p:txBody>
      </p:sp>
      <p:sp>
        <p:nvSpPr>
          <p:cNvPr id="639" name="Google Shape;639;p14"/>
          <p:cNvSpPr txBox="1"/>
          <p:nvPr/>
        </p:nvSpPr>
        <p:spPr>
          <a:xfrm>
            <a:off x="365760" y="341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Serves the browser UI at http://localhost:8080</a:t>
            </a:r>
            <a:endParaRPr/>
          </a:p>
        </p:txBody>
      </p:sp>
      <p:sp>
        <p:nvSpPr>
          <p:cNvPr id="640" name="Google Shape;640;p14"/>
          <p:cNvSpPr txBox="1"/>
          <p:nvPr/>
        </p:nvSpPr>
        <p:spPr>
          <a:xfrm>
            <a:off x="365760" y="360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Lets you trigger runs, view logs, pause DAGs manually</a:t>
            </a:r>
            <a:endParaRPr/>
          </a:p>
        </p:txBody>
      </p:sp>
      <p:sp>
        <p:nvSpPr>
          <p:cNvPr id="641" name="Google Shape;641;p14"/>
          <p:cNvSpPr/>
          <p:nvPr/>
        </p:nvSpPr>
        <p:spPr>
          <a:xfrm>
            <a:off x="274320" y="3837320"/>
            <a:ext cx="5714436" cy="120000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4"/>
          <p:cNvSpPr/>
          <p:nvPr/>
        </p:nvSpPr>
        <p:spPr>
          <a:xfrm>
            <a:off x="274320" y="3837320"/>
            <a:ext cx="5714436" cy="300000"/>
          </a:xfrm>
          <a:prstGeom prst="roundRect">
            <a:avLst>
              <a:gd fmla="val 15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4"/>
          <p:cNvSpPr txBox="1"/>
          <p:nvPr/>
        </p:nvSpPr>
        <p:spPr>
          <a:xfrm>
            <a:off x="365760" y="3897320"/>
            <a:ext cx="5531556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Volume Mounts — how files are shared</a:t>
            </a:r>
            <a:endParaRPr/>
          </a:p>
        </p:txBody>
      </p:sp>
      <p:sp>
        <p:nvSpPr>
          <p:cNvPr id="644" name="Google Shape;644;p14"/>
          <p:cNvSpPr txBox="1"/>
          <p:nvPr/>
        </p:nvSpPr>
        <p:spPr>
          <a:xfrm>
            <a:off x="365760" y="419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Docker containers are isolated by default</a:t>
            </a:r>
            <a:endParaRPr/>
          </a:p>
        </p:txBody>
      </p:sp>
      <p:sp>
        <p:nvSpPr>
          <p:cNvPr id="645" name="Google Shape;645;p14"/>
          <p:cNvSpPr txBox="1"/>
          <p:nvPr/>
        </p:nvSpPr>
        <p:spPr>
          <a:xfrm>
            <a:off x="365760" y="438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Volume mounts bind a local folder into the container</a:t>
            </a:r>
            <a:endParaRPr/>
          </a:p>
        </p:txBody>
      </p:sp>
      <p:sp>
        <p:nvSpPr>
          <p:cNvPr id="646" name="Google Shape;646;p14"/>
          <p:cNvSpPr txBox="1"/>
          <p:nvPr/>
        </p:nvSpPr>
        <p:spPr>
          <a:xfrm>
            <a:off x="365760" y="456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./dags:/opt/airflow/dags  → DAG files</a:t>
            </a:r>
            <a:endParaRPr/>
          </a:p>
        </p:txBody>
      </p:sp>
      <p:sp>
        <p:nvSpPr>
          <p:cNvPr id="647" name="Google Shape;647;p14"/>
          <p:cNvSpPr txBox="1"/>
          <p:nvPr/>
        </p:nvSpPr>
        <p:spPr>
          <a:xfrm>
            <a:off x="365760" y="475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./part_1_batch_processing:/opt/airflow/part_1  → data</a:t>
            </a:r>
            <a:endParaRPr/>
          </a:p>
        </p:txBody>
      </p:sp>
      <p:sp>
        <p:nvSpPr>
          <p:cNvPr id="648" name="Google Shape;648;p14"/>
          <p:cNvSpPr txBox="1"/>
          <p:nvPr/>
        </p:nvSpPr>
        <p:spPr>
          <a:xfrm>
            <a:off x="365760" y="493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./part_2_real_time_processing:/opt/airflow/part_2</a:t>
            </a:r>
            <a:endParaRPr/>
          </a:p>
        </p:txBody>
      </p:sp>
      <p:sp>
        <p:nvSpPr>
          <p:cNvPr id="649" name="Google Shape;649;p14"/>
          <p:cNvSpPr txBox="1"/>
          <p:nvPr/>
        </p:nvSpPr>
        <p:spPr>
          <a:xfrm>
            <a:off x="365760" y="512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Drop a file locally → Airflow inside Docker sees it instantly</a:t>
            </a:r>
            <a:endParaRPr/>
          </a:p>
        </p:txBody>
      </p:sp>
      <p:sp>
        <p:nvSpPr>
          <p:cNvPr id="650" name="Google Shape;650;p14"/>
          <p:cNvSpPr/>
          <p:nvPr/>
        </p:nvSpPr>
        <p:spPr>
          <a:xfrm>
            <a:off x="6154476" y="1497320"/>
            <a:ext cx="5714436" cy="1500000"/>
          </a:xfrm>
          <a:prstGeom prst="roundRect">
            <a:avLst>
              <a:gd fmla="val 15000" name="adj"/>
            </a:avLst>
          </a:prstGeom>
          <a:solidFill>
            <a:srgbClr val="F1F5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4"/>
          <p:cNvSpPr/>
          <p:nvPr/>
        </p:nvSpPr>
        <p:spPr>
          <a:xfrm>
            <a:off x="6154476" y="1497320"/>
            <a:ext cx="5714436" cy="300000"/>
          </a:xfrm>
          <a:prstGeom prst="roundRect">
            <a:avLst>
              <a:gd fmla="val 15000" name="adj"/>
            </a:avLst>
          </a:prstGeom>
          <a:solidFill>
            <a:srgbClr val="0096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4"/>
          <p:cNvSpPr txBox="1"/>
          <p:nvPr/>
        </p:nvSpPr>
        <p:spPr>
          <a:xfrm>
            <a:off x="6245916" y="1557320"/>
            <a:ext cx="5531556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Docker?</a:t>
            </a:r>
            <a:endParaRPr/>
          </a:p>
        </p:txBody>
      </p:sp>
      <p:sp>
        <p:nvSpPr>
          <p:cNvPr id="653" name="Google Shape;653;p14"/>
          <p:cNvSpPr txBox="1"/>
          <p:nvPr/>
        </p:nvSpPr>
        <p:spPr>
          <a:xfrm>
            <a:off x="6245916" y="185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Reproducible environment: same Python version,</a:t>
            </a:r>
            <a:endParaRPr/>
          </a:p>
        </p:txBody>
      </p:sp>
      <p:sp>
        <p:nvSpPr>
          <p:cNvPr id="654" name="Google Shape;654;p14"/>
          <p:cNvSpPr txBox="1"/>
          <p:nvPr/>
        </p:nvSpPr>
        <p:spPr>
          <a:xfrm>
            <a:off x="6245916" y="204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same packages, same paths — everywhere</a:t>
            </a:r>
            <a:endParaRPr/>
          </a:p>
        </p:txBody>
      </p:sp>
      <p:sp>
        <p:nvSpPr>
          <p:cNvPr id="655" name="Google Shape;655;p14"/>
          <p:cNvSpPr txBox="1"/>
          <p:nvPr/>
        </p:nvSpPr>
        <p:spPr>
          <a:xfrm>
            <a:off x="6245916" y="222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4"/>
          <p:cNvSpPr txBox="1"/>
          <p:nvPr/>
        </p:nvSpPr>
        <p:spPr>
          <a:xfrm>
            <a:off x="6245916" y="241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'works on my machine' problems</a:t>
            </a:r>
            <a:endParaRPr/>
          </a:p>
        </p:txBody>
      </p:sp>
      <p:sp>
        <p:nvSpPr>
          <p:cNvPr id="657" name="Google Shape;657;p14"/>
          <p:cNvSpPr txBox="1"/>
          <p:nvPr/>
        </p:nvSpPr>
        <p:spPr>
          <a:xfrm>
            <a:off x="6245916" y="259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4"/>
          <p:cNvSpPr txBox="1"/>
          <p:nvPr/>
        </p:nvSpPr>
        <p:spPr>
          <a:xfrm>
            <a:off x="6245916" y="278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Airflow itself has many dependencies (Flask,</a:t>
            </a:r>
            <a:endParaRPr/>
          </a:p>
        </p:txBody>
      </p:sp>
      <p:sp>
        <p:nvSpPr>
          <p:cNvPr id="659" name="Google Shape;659;p14"/>
          <p:cNvSpPr txBox="1"/>
          <p:nvPr/>
        </p:nvSpPr>
        <p:spPr>
          <a:xfrm>
            <a:off x="6245916" y="296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Celery, SQLAlchemy) — Docker isolates them</a:t>
            </a:r>
            <a:endParaRPr/>
          </a:p>
        </p:txBody>
      </p:sp>
      <p:sp>
        <p:nvSpPr>
          <p:cNvPr id="660" name="Google Shape;660;p14"/>
          <p:cNvSpPr txBox="1"/>
          <p:nvPr/>
        </p:nvSpPr>
        <p:spPr>
          <a:xfrm>
            <a:off x="6245916" y="315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4"/>
          <p:cNvSpPr txBox="1"/>
          <p:nvPr/>
        </p:nvSpPr>
        <p:spPr>
          <a:xfrm>
            <a:off x="6245916" y="3337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 command spins up the full stack:</a:t>
            </a:r>
            <a:endParaRPr/>
          </a:p>
        </p:txBody>
      </p:sp>
      <p:sp>
        <p:nvSpPr>
          <p:cNvPr id="662" name="Google Shape;662;p14"/>
          <p:cNvSpPr txBox="1"/>
          <p:nvPr/>
        </p:nvSpPr>
        <p:spPr>
          <a:xfrm>
            <a:off x="6245916" y="3522320"/>
            <a:ext cx="5531556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docker compose up --build</a:t>
            </a:r>
            <a:endParaRPr/>
          </a:p>
        </p:txBody>
      </p:sp>
      <p:sp>
        <p:nvSpPr>
          <p:cNvPr id="663" name="Google Shape;663;p14"/>
          <p:cNvSpPr/>
          <p:nvPr/>
        </p:nvSpPr>
        <p:spPr>
          <a:xfrm>
            <a:off x="6154476" y="3077320"/>
            <a:ext cx="5714436" cy="2000000"/>
          </a:xfrm>
          <a:prstGeom prst="roundRect">
            <a:avLst>
              <a:gd fmla="val 10000" name="adj"/>
            </a:avLst>
          </a:prstGeom>
          <a:solidFill>
            <a:srgbClr val="131E3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4"/>
          <p:cNvSpPr txBox="1"/>
          <p:nvPr/>
        </p:nvSpPr>
        <p:spPr>
          <a:xfrm>
            <a:off x="6245916" y="3137320"/>
            <a:ext cx="5531556" cy="1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# docker-compose.yml (simplified)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services: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postgres: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  image: postgres:15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  environment: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    POSTGRES_PASSWORD: airflow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airflow-scheduler: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  image: apache/airflow:2.9.0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  command: scheduler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  volumes: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    - ./dags:/opt/airflow/dags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  healthcheck: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    test: airflow jobs check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    interval: 30s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airflow-webserver: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  ports: ['8080:8080']</a:t>
            </a:r>
            <a:b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D1EAFF"/>
                </a:solidFill>
                <a:latin typeface="Calibri"/>
                <a:ea typeface="Calibri"/>
                <a:cs typeface="Calibri"/>
                <a:sym typeface="Calibri"/>
              </a:rPr>
              <a:t>    command: webserver</a:t>
            </a:r>
            <a:endParaRPr/>
          </a:p>
        </p:txBody>
      </p:sp>
      <p:sp>
        <p:nvSpPr>
          <p:cNvPr id="665" name="Google Shape;665;p14"/>
          <p:cNvSpPr/>
          <p:nvPr/>
        </p:nvSpPr>
        <p:spPr>
          <a:xfrm>
            <a:off x="274320" y="6257960"/>
            <a:ext cx="11640312" cy="240000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4"/>
          <p:cNvSpPr txBox="1"/>
          <p:nvPr/>
        </p:nvSpPr>
        <p:spPr>
          <a:xfrm>
            <a:off x="365760" y="6317960"/>
            <a:ext cx="11457432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 three containers share one Docker network — scheduler, webserver, and postgres communicate by container name (e.g. postgres:5432). No ports need to be exposed except 8080 for the UI.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5"/>
          <p:cNvSpPr/>
          <p:nvPr/>
        </p:nvSpPr>
        <p:spPr>
          <a:xfrm>
            <a:off x="9326880" y="-731520"/>
            <a:ext cx="4114800" cy="4114800"/>
          </a:xfrm>
          <a:prstGeom prst="ellipse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5"/>
          <p:cNvSpPr/>
          <p:nvPr/>
        </p:nvSpPr>
        <p:spPr>
          <a:xfrm>
            <a:off x="-457200" y="4389120"/>
            <a:ext cx="3200400" cy="3200400"/>
          </a:xfrm>
          <a:prstGeom prst="ellipse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5"/>
          <p:cNvSpPr txBox="1"/>
          <p:nvPr/>
        </p:nvSpPr>
        <p:spPr>
          <a:xfrm>
            <a:off x="548640" y="274320"/>
            <a:ext cx="10972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Results</a:t>
            </a:r>
            <a:endParaRPr/>
          </a:p>
        </p:txBody>
      </p:sp>
      <p:sp>
        <p:nvSpPr>
          <p:cNvPr id="674" name="Google Shape;674;p15"/>
          <p:cNvSpPr/>
          <p:nvPr/>
        </p:nvSpPr>
        <p:spPr>
          <a:xfrm>
            <a:off x="548640" y="987552"/>
            <a:ext cx="3474720" cy="64008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5"/>
          <p:cNvSpPr/>
          <p:nvPr/>
        </p:nvSpPr>
        <p:spPr>
          <a:xfrm>
            <a:off x="457200" y="1207008"/>
            <a:ext cx="2697480" cy="2514600"/>
          </a:xfrm>
          <a:prstGeom prst="roundRect">
            <a:avLst>
              <a:gd fmla="val 16667" name="adj"/>
            </a:avLst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5"/>
          <p:cNvSpPr txBox="1"/>
          <p:nvPr/>
        </p:nvSpPr>
        <p:spPr>
          <a:xfrm>
            <a:off x="548640" y="1298448"/>
            <a:ext cx="2514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3.4M</a:t>
            </a:r>
            <a:endParaRPr/>
          </a:p>
        </p:txBody>
      </p:sp>
      <p:sp>
        <p:nvSpPr>
          <p:cNvPr id="677" name="Google Shape;677;p15"/>
          <p:cNvSpPr txBox="1"/>
          <p:nvPr/>
        </p:nvSpPr>
        <p:spPr>
          <a:xfrm>
            <a:off x="548640" y="242316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rows processed</a:t>
            </a:r>
            <a:br>
              <a:rPr b="0" i="0" lang="en-US" sz="13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Part 1 pipeline</a:t>
            </a:r>
            <a:endParaRPr/>
          </a:p>
        </p:txBody>
      </p:sp>
      <p:sp>
        <p:nvSpPr>
          <p:cNvPr id="678" name="Google Shape;678;p15"/>
          <p:cNvSpPr/>
          <p:nvPr/>
        </p:nvSpPr>
        <p:spPr>
          <a:xfrm>
            <a:off x="3383280" y="1207008"/>
            <a:ext cx="2697480" cy="2514600"/>
          </a:xfrm>
          <a:prstGeom prst="roundRect">
            <a:avLst>
              <a:gd fmla="val 16667" name="adj"/>
            </a:avLst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5"/>
          <p:cNvSpPr txBox="1"/>
          <p:nvPr/>
        </p:nvSpPr>
        <p:spPr>
          <a:xfrm>
            <a:off x="3474720" y="1298448"/>
            <a:ext cx="2514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95.72%</a:t>
            </a:r>
            <a:endParaRPr/>
          </a:p>
        </p:txBody>
      </p:sp>
      <p:sp>
        <p:nvSpPr>
          <p:cNvPr id="680" name="Google Shape;680;p15"/>
          <p:cNvSpPr txBox="1"/>
          <p:nvPr/>
        </p:nvSpPr>
        <p:spPr>
          <a:xfrm>
            <a:off x="3474720" y="242316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data retention</a:t>
            </a:r>
            <a:br>
              <a:rPr b="0" i="0" lang="en-US" sz="13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rate — Part 1</a:t>
            </a:r>
            <a:endParaRPr/>
          </a:p>
        </p:txBody>
      </p:sp>
      <p:sp>
        <p:nvSpPr>
          <p:cNvPr id="681" name="Google Shape;681;p15"/>
          <p:cNvSpPr/>
          <p:nvPr/>
        </p:nvSpPr>
        <p:spPr>
          <a:xfrm>
            <a:off x="6309360" y="1207008"/>
            <a:ext cx="2697480" cy="2514600"/>
          </a:xfrm>
          <a:prstGeom prst="roundRect">
            <a:avLst>
              <a:gd fmla="val 16667" name="adj"/>
            </a:avLst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5"/>
          <p:cNvSpPr txBox="1"/>
          <p:nvPr/>
        </p:nvSpPr>
        <p:spPr>
          <a:xfrm>
            <a:off x="6400800" y="1298448"/>
            <a:ext cx="2514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 &lt;1 sec</a:t>
            </a:r>
            <a:endParaRPr/>
          </a:p>
        </p:txBody>
      </p:sp>
      <p:sp>
        <p:nvSpPr>
          <p:cNvPr id="683" name="Google Shape;683;p15"/>
          <p:cNvSpPr txBox="1"/>
          <p:nvPr/>
        </p:nvSpPr>
        <p:spPr>
          <a:xfrm>
            <a:off x="6400800" y="242316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trigger latency</a:t>
            </a:r>
            <a:br>
              <a:rPr b="0" i="0" lang="en-US" sz="13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watcher — Part 2</a:t>
            </a:r>
            <a:endParaRPr/>
          </a:p>
        </p:txBody>
      </p:sp>
      <p:sp>
        <p:nvSpPr>
          <p:cNvPr id="684" name="Google Shape;684;p15"/>
          <p:cNvSpPr/>
          <p:nvPr/>
        </p:nvSpPr>
        <p:spPr>
          <a:xfrm>
            <a:off x="9235440" y="1207008"/>
            <a:ext cx="2697480" cy="2514600"/>
          </a:xfrm>
          <a:prstGeom prst="roundRect">
            <a:avLst>
              <a:gd fmla="val 16667" name="adj"/>
            </a:avLst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5"/>
          <p:cNvSpPr txBox="1"/>
          <p:nvPr/>
        </p:nvSpPr>
        <p:spPr>
          <a:xfrm>
            <a:off x="9326880" y="1298448"/>
            <a:ext cx="2514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686" name="Google Shape;686;p15"/>
          <p:cNvSpPr txBox="1"/>
          <p:nvPr/>
        </p:nvSpPr>
        <p:spPr>
          <a:xfrm>
            <a:off x="9326880" y="242316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final columns</a:t>
            </a:r>
            <a:br>
              <a:rPr b="0" i="0" lang="en-US" sz="13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after Part 2</a:t>
            </a:r>
            <a:endParaRPr/>
          </a:p>
        </p:txBody>
      </p:sp>
      <p:sp>
        <p:nvSpPr>
          <p:cNvPr id="687" name="Google Shape;687;p15"/>
          <p:cNvSpPr/>
          <p:nvPr/>
        </p:nvSpPr>
        <p:spPr>
          <a:xfrm>
            <a:off x="457200" y="3977639"/>
            <a:ext cx="2231136" cy="1417320"/>
          </a:xfrm>
          <a:prstGeom prst="roundRect">
            <a:avLst>
              <a:gd fmla="val 16667" name="adj"/>
            </a:avLst>
          </a:prstGeom>
          <a:solidFill>
            <a:srgbClr val="131E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5"/>
          <p:cNvSpPr txBox="1"/>
          <p:nvPr/>
        </p:nvSpPr>
        <p:spPr>
          <a:xfrm>
            <a:off x="566928" y="4087368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Pipelines</a:t>
            </a:r>
            <a:endParaRPr/>
          </a:p>
        </p:txBody>
      </p:sp>
      <p:sp>
        <p:nvSpPr>
          <p:cNvPr id="689" name="Google Shape;689;p15"/>
          <p:cNvSpPr txBox="1"/>
          <p:nvPr/>
        </p:nvSpPr>
        <p:spPr>
          <a:xfrm>
            <a:off x="566928" y="4507992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Batch + Real-Time</a:t>
            </a:r>
            <a:endParaRPr/>
          </a:p>
        </p:txBody>
      </p:sp>
      <p:sp>
        <p:nvSpPr>
          <p:cNvPr id="690" name="Google Shape;690;p15"/>
          <p:cNvSpPr/>
          <p:nvPr/>
        </p:nvSpPr>
        <p:spPr>
          <a:xfrm>
            <a:off x="2807208" y="3977639"/>
            <a:ext cx="2231136" cy="1417320"/>
          </a:xfrm>
          <a:prstGeom prst="roundRect">
            <a:avLst>
              <a:gd fmla="val 16667" name="adj"/>
            </a:avLst>
          </a:prstGeom>
          <a:solidFill>
            <a:srgbClr val="131E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5"/>
          <p:cNvSpPr txBox="1"/>
          <p:nvPr/>
        </p:nvSpPr>
        <p:spPr>
          <a:xfrm>
            <a:off x="2916936" y="4087368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Dual Validation</a:t>
            </a:r>
            <a:endParaRPr/>
          </a:p>
        </p:txBody>
      </p:sp>
      <p:sp>
        <p:nvSpPr>
          <p:cNvPr id="692" name="Google Shape;692;p15"/>
          <p:cNvSpPr txBox="1"/>
          <p:nvPr/>
        </p:nvSpPr>
        <p:spPr>
          <a:xfrm>
            <a:off x="2916936" y="4507992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Primary + Back-up</a:t>
            </a:r>
            <a:endParaRPr/>
          </a:p>
        </p:txBody>
      </p:sp>
      <p:sp>
        <p:nvSpPr>
          <p:cNvPr id="693" name="Google Shape;693;p15"/>
          <p:cNvSpPr/>
          <p:nvPr/>
        </p:nvSpPr>
        <p:spPr>
          <a:xfrm>
            <a:off x="5157216" y="3977639"/>
            <a:ext cx="2231136" cy="1417320"/>
          </a:xfrm>
          <a:prstGeom prst="roundRect">
            <a:avLst>
              <a:gd fmla="val 16667" name="adj"/>
            </a:avLst>
          </a:prstGeom>
          <a:solidFill>
            <a:srgbClr val="131E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5"/>
          <p:cNvSpPr txBox="1"/>
          <p:nvPr/>
        </p:nvSpPr>
        <p:spPr>
          <a:xfrm>
            <a:off x="5266944" y="4087368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Full Audit Trail</a:t>
            </a:r>
            <a:endParaRPr/>
          </a:p>
        </p:txBody>
      </p:sp>
      <p:sp>
        <p:nvSpPr>
          <p:cNvPr id="695" name="Google Shape;695;p15"/>
          <p:cNvSpPr txBox="1"/>
          <p:nvPr/>
        </p:nvSpPr>
        <p:spPr>
          <a:xfrm>
            <a:off x="5266944" y="4507992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Rejected rows saved</a:t>
            </a:r>
            <a:endParaRPr/>
          </a:p>
        </p:txBody>
      </p:sp>
      <p:sp>
        <p:nvSpPr>
          <p:cNvPr id="696" name="Google Shape;696;p15"/>
          <p:cNvSpPr/>
          <p:nvPr/>
        </p:nvSpPr>
        <p:spPr>
          <a:xfrm>
            <a:off x="7507223" y="3977639"/>
            <a:ext cx="2231136" cy="1417320"/>
          </a:xfrm>
          <a:prstGeom prst="roundRect">
            <a:avLst>
              <a:gd fmla="val 16667" name="adj"/>
            </a:avLst>
          </a:prstGeom>
          <a:solidFill>
            <a:srgbClr val="131E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5"/>
          <p:cNvSpPr txBox="1"/>
          <p:nvPr/>
        </p:nvSpPr>
        <p:spPr>
          <a:xfrm>
            <a:off x="7616951" y="4087368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Storage</a:t>
            </a:r>
            <a:endParaRPr/>
          </a:p>
        </p:txBody>
      </p:sp>
      <p:sp>
        <p:nvSpPr>
          <p:cNvPr id="698" name="Google Shape;698;p15"/>
          <p:cNvSpPr txBox="1"/>
          <p:nvPr/>
        </p:nvSpPr>
        <p:spPr>
          <a:xfrm>
            <a:off x="7616951" y="4507992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Azure Blob output</a:t>
            </a:r>
            <a:endParaRPr/>
          </a:p>
        </p:txBody>
      </p:sp>
      <p:sp>
        <p:nvSpPr>
          <p:cNvPr id="699" name="Google Shape;699;p15"/>
          <p:cNvSpPr/>
          <p:nvPr/>
        </p:nvSpPr>
        <p:spPr>
          <a:xfrm>
            <a:off x="9857232" y="3977639"/>
            <a:ext cx="2231136" cy="1417320"/>
          </a:xfrm>
          <a:prstGeom prst="roundRect">
            <a:avLst>
              <a:gd fmla="val 16667" name="adj"/>
            </a:avLst>
          </a:prstGeom>
          <a:solidFill>
            <a:srgbClr val="131E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5"/>
          <p:cNvSpPr txBox="1"/>
          <p:nvPr/>
        </p:nvSpPr>
        <p:spPr>
          <a:xfrm>
            <a:off x="9966959" y="4087368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Orchestration</a:t>
            </a:r>
            <a:endParaRPr/>
          </a:p>
        </p:txBody>
      </p:sp>
      <p:sp>
        <p:nvSpPr>
          <p:cNvPr id="701" name="Google Shape;701;p15"/>
          <p:cNvSpPr txBox="1"/>
          <p:nvPr/>
        </p:nvSpPr>
        <p:spPr>
          <a:xfrm>
            <a:off x="9966959" y="4507992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Apache Airflow DAGs</a:t>
            </a:r>
            <a:endParaRPr/>
          </a:p>
        </p:txBody>
      </p:sp>
      <p:sp>
        <p:nvSpPr>
          <p:cNvPr id="702" name="Google Shape;702;p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5"/>
          <p:cNvSpPr txBox="1"/>
          <p:nvPr/>
        </p:nvSpPr>
        <p:spPr>
          <a:xfrm>
            <a:off x="320040" y="6556248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Salina Giri , Zakaria Sh</a:t>
            </a:r>
            <a:r>
              <a:rPr lang="en-US" sz="900">
                <a:solidFill>
                  <a:srgbClr val="93C5FD"/>
                </a:solidFill>
              </a:rPr>
              <a:t>ahruri</a:t>
            </a:r>
            <a:r>
              <a:rPr b="0" i="0" lang="en-US" sz="9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 ·  Data Engineering  ·  Year 2 Semester 2  ·  5 May 2026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6"/>
          <p:cNvSpPr/>
          <p:nvPr/>
        </p:nvSpPr>
        <p:spPr>
          <a:xfrm>
            <a:off x="8686800" y="-914400"/>
            <a:ext cx="4754880" cy="4754880"/>
          </a:xfrm>
          <a:prstGeom prst="ellipse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6"/>
          <p:cNvSpPr/>
          <p:nvPr/>
        </p:nvSpPr>
        <p:spPr>
          <a:xfrm>
            <a:off x="-914400" y="4754880"/>
            <a:ext cx="3474720" cy="3474720"/>
          </a:xfrm>
          <a:prstGeom prst="ellipse">
            <a:avLst/>
          </a:prstGeom>
          <a:solidFill>
            <a:srgbClr val="131E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6"/>
          <p:cNvSpPr txBox="1"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711" name="Google Shape;711;p16"/>
          <p:cNvSpPr/>
          <p:nvPr/>
        </p:nvSpPr>
        <p:spPr>
          <a:xfrm>
            <a:off x="3840480" y="2423160"/>
            <a:ext cx="4480560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6"/>
          <p:cNvSpPr txBox="1"/>
          <p:nvPr/>
        </p:nvSpPr>
        <p:spPr>
          <a:xfrm>
            <a:off x="457200" y="2633472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/>
          </a:p>
        </p:txBody>
      </p:sp>
      <p:sp>
        <p:nvSpPr>
          <p:cNvPr id="713" name="Google Shape;713;p16"/>
          <p:cNvSpPr/>
          <p:nvPr/>
        </p:nvSpPr>
        <p:spPr>
          <a:xfrm>
            <a:off x="1645920" y="3493008"/>
            <a:ext cx="4297680" cy="713232"/>
          </a:xfrm>
          <a:prstGeom prst="roundRect">
            <a:avLst>
              <a:gd fmla="val 16667" name="adj"/>
            </a:avLst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6"/>
          <p:cNvSpPr/>
          <p:nvPr/>
        </p:nvSpPr>
        <p:spPr>
          <a:xfrm>
            <a:off x="1645920" y="3493008"/>
            <a:ext cx="164592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6"/>
          <p:cNvSpPr txBox="1"/>
          <p:nvPr/>
        </p:nvSpPr>
        <p:spPr>
          <a:xfrm>
            <a:off x="1920240" y="35661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Airflow UI</a:t>
            </a:r>
            <a:endParaRPr/>
          </a:p>
        </p:txBody>
      </p:sp>
      <p:sp>
        <p:nvSpPr>
          <p:cNvPr id="716" name="Google Shape;716;p16"/>
          <p:cNvSpPr txBox="1"/>
          <p:nvPr/>
        </p:nvSpPr>
        <p:spPr>
          <a:xfrm>
            <a:off x="1920240" y="389534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http://localhost:8080  (admin / admin)</a:t>
            </a:r>
            <a:endParaRPr/>
          </a:p>
        </p:txBody>
      </p:sp>
      <p:sp>
        <p:nvSpPr>
          <p:cNvPr id="717" name="Google Shape;717;p16"/>
          <p:cNvSpPr/>
          <p:nvPr/>
        </p:nvSpPr>
        <p:spPr>
          <a:xfrm>
            <a:off x="6217920" y="3493008"/>
            <a:ext cx="4297680" cy="713232"/>
          </a:xfrm>
          <a:prstGeom prst="roundRect">
            <a:avLst>
              <a:gd fmla="val 16667" name="adj"/>
            </a:avLst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6"/>
          <p:cNvSpPr/>
          <p:nvPr/>
        </p:nvSpPr>
        <p:spPr>
          <a:xfrm>
            <a:off x="6217920" y="3493008"/>
            <a:ext cx="164592" cy="713232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6"/>
          <p:cNvSpPr txBox="1"/>
          <p:nvPr/>
        </p:nvSpPr>
        <p:spPr>
          <a:xfrm>
            <a:off x="6492240" y="35661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1 output</a:t>
            </a:r>
            <a:endParaRPr/>
          </a:p>
        </p:txBody>
      </p:sp>
      <p:sp>
        <p:nvSpPr>
          <p:cNvPr id="720" name="Google Shape;720;p16"/>
          <p:cNvSpPr txBox="1"/>
          <p:nvPr/>
        </p:nvSpPr>
        <p:spPr>
          <a:xfrm>
            <a:off x="6492240" y="389534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part_1_batch_processing/output/</a:t>
            </a:r>
            <a:endParaRPr/>
          </a:p>
        </p:txBody>
      </p:sp>
      <p:sp>
        <p:nvSpPr>
          <p:cNvPr id="721" name="Google Shape;721;p16"/>
          <p:cNvSpPr/>
          <p:nvPr/>
        </p:nvSpPr>
        <p:spPr>
          <a:xfrm>
            <a:off x="1645920" y="4389120"/>
            <a:ext cx="4297680" cy="713232"/>
          </a:xfrm>
          <a:prstGeom prst="roundRect">
            <a:avLst>
              <a:gd fmla="val 16667" name="adj"/>
            </a:avLst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6"/>
          <p:cNvSpPr/>
          <p:nvPr/>
        </p:nvSpPr>
        <p:spPr>
          <a:xfrm>
            <a:off x="1645920" y="4389120"/>
            <a:ext cx="164592" cy="713232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6"/>
          <p:cNvSpPr txBox="1"/>
          <p:nvPr/>
        </p:nvSpPr>
        <p:spPr>
          <a:xfrm>
            <a:off x="1920240" y="446227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2 output</a:t>
            </a:r>
            <a:endParaRPr/>
          </a:p>
        </p:txBody>
      </p:sp>
      <p:sp>
        <p:nvSpPr>
          <p:cNvPr id="724" name="Google Shape;724;p16"/>
          <p:cNvSpPr txBox="1"/>
          <p:nvPr/>
        </p:nvSpPr>
        <p:spPr>
          <a:xfrm>
            <a:off x="1920240" y="479145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part_2_real_time_processing/output_zone/</a:t>
            </a:r>
            <a:endParaRPr/>
          </a:p>
        </p:txBody>
      </p:sp>
      <p:sp>
        <p:nvSpPr>
          <p:cNvPr id="725" name="Google Shape;725;p16"/>
          <p:cNvSpPr/>
          <p:nvPr/>
        </p:nvSpPr>
        <p:spPr>
          <a:xfrm>
            <a:off x="6217920" y="4389120"/>
            <a:ext cx="4297680" cy="713232"/>
          </a:xfrm>
          <a:prstGeom prst="roundRect">
            <a:avLst>
              <a:gd fmla="val 16667" name="adj"/>
            </a:avLst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6"/>
          <p:cNvSpPr/>
          <p:nvPr/>
        </p:nvSpPr>
        <p:spPr>
          <a:xfrm>
            <a:off x="6217920" y="4389120"/>
            <a:ext cx="164592" cy="713232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6"/>
          <p:cNvSpPr txBox="1"/>
          <p:nvPr/>
        </p:nvSpPr>
        <p:spPr>
          <a:xfrm>
            <a:off x="6492240" y="446227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</p:txBody>
      </p:sp>
      <p:sp>
        <p:nvSpPr>
          <p:cNvPr id="728" name="Google Shape;728;p16"/>
          <p:cNvSpPr txBox="1"/>
          <p:nvPr/>
        </p:nvSpPr>
        <p:spPr>
          <a:xfrm>
            <a:off x="6492240" y="4791456"/>
            <a:ext cx="3931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SalinaGiriUCLL, ZakariaShahruriUCLL</a:t>
            </a:r>
            <a:endParaRPr/>
          </a:p>
        </p:txBody>
      </p:sp>
      <p:sp>
        <p:nvSpPr>
          <p:cNvPr id="729" name="Google Shape;729;p16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See VALIDATION_RULES.md for full column rules  ·  See DEFENCE.md for Q&amp;A preparation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