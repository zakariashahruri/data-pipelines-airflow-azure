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Final Gold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Sheet1!$A$2:$A$2</c:f>
              <c:strCache>
                <c:ptCount val="1"/>
                <c:pt idx="0">
                  <c:v>NYC Taxi — Jan 2025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3326500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Rejected — Primary Validation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Sheet1!$A$2:$A$2</c:f>
              <c:strCache>
                <c:ptCount val="1"/>
                <c:pt idx="0">
                  <c:v>NYC Taxi — Jan 2025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148302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Rejected — Back-up Validation</c:v>
                </c:pt>
              </c:strCache>
            </c:strRef>
          </c:tx>
          <c:spPr>
            <a:solidFill>
              <a:srgbClr val="D97706"/>
            </a:solidFill>
          </c:spPr>
          <c:cat>
            <c:strRef>
              <c:f>Sheet1!$A$2:$A$2</c:f>
              <c:strCache>
                <c:ptCount val="1"/>
                <c:pt idx="0">
                  <c:v>NYC Taxi — Jan 2025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1097280"/>
            <a:ext cx="4572000" cy="4572000"/>
          </a:xfrm>
          <a:prstGeom prst="ellipse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4389120"/>
            <a:ext cx="2926080" cy="2926080"/>
          </a:xfrm>
          <a:prstGeom prst="ellipse">
            <a:avLst/>
          </a:prstGeom>
          <a:solidFill>
            <a:srgbClr val="16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029200"/>
            <a:ext cx="2560320" cy="2560320"/>
          </a:xfrm>
          <a:prstGeom prst="ellipse">
            <a:avLst/>
          </a:prstGeom>
          <a:solidFill>
            <a:srgbClr val="16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Arial"/>
              </a:rPr>
              <a:t>DATA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60A5FA"/>
                </a:solidFill>
                <a:latin typeface="Arial"/>
              </a:rPr>
              <a:t>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90672"/>
            <a:ext cx="3474720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3C5FD"/>
                </a:solidFill>
                <a:latin typeface="Arial"/>
              </a:rPr>
              <a:t>Real-World Pipelines with Apache Airflow &amp; Azure Blob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Arial"/>
              </a:rPr>
              <a:t>Salina Giri  ·  Year 2 — Data Engineering  ·  5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00600"/>
            <a:ext cx="324612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864608"/>
            <a:ext cx="2971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BATCH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800600"/>
            <a:ext cx="3246120" cy="53035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4864608"/>
            <a:ext cx="2971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REAL-TIME PROCESSING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Two independent pipelines — same architecture, different triggers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60120"/>
            <a:ext cx="12188952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563EB"/>
                </a:solidFill>
                <a:latin typeface="Arial"/>
              </a:rPr>
              <a:t>Reader   ▶   Validator   ▶   Processor   ▶   Back-up Validator   ▶   Writer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536192"/>
            <a:ext cx="5440680" cy="47091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459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3C5FD"/>
                </a:solidFill>
                <a:latin typeface="Arial"/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Batch 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14600"/>
            <a:ext cx="5440680" cy="411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3347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3C5FD"/>
                </a:solidFill>
                <a:latin typeface="Arial"/>
              </a:rPr>
              <a:t>Dataset: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63347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NYC Yellow Taxi — January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8094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3C5FD"/>
                </a:solidFill>
                <a:latin typeface="Arial"/>
              </a:rPr>
              <a:t>Volume: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9809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~3.4 million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328415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3C5FD"/>
                </a:solidFill>
                <a:latin typeface="Arial"/>
              </a:rPr>
              <a:t>Format: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3328415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Apache Parquet (.parquet)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3C5FD"/>
                </a:solidFill>
                <a:latin typeface="Arial"/>
              </a:rPr>
              <a:t>Trigger: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675887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Scheduled — 5 May 2026 (defence date)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2335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3C5FD"/>
                </a:solidFill>
                <a:latin typeface="Arial"/>
              </a:rPr>
              <a:t>Output: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02335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processed_taxi_data.parquet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3708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3C5FD"/>
                </a:solidFill>
                <a:latin typeface="Arial"/>
              </a:rPr>
              <a:t>Cloud: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370831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Azure container: taxiproject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536192"/>
            <a:ext cx="5440680" cy="4709160"/>
          </a:xfrm>
          <a:prstGeom prst="roundRect">
            <a:avLst/>
          </a:prstGeom>
          <a:solidFill>
            <a:srgbClr val="00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6459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  <a:latin typeface="Arial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920240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Real-Time Processing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514600"/>
            <a:ext cx="544068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263347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  <a:latin typeface="Arial"/>
              </a:rPr>
              <a:t>Dataset: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6334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Retail Inventory — Store Sales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298094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  <a:latin typeface="Arial"/>
              </a:rPr>
              <a:t>Volume: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9809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149 rows · 11 columns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328415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  <a:latin typeface="Arial"/>
              </a:rPr>
              <a:t>Format: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328415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CSV / XLSX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367588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  <a:latin typeface="Arial"/>
              </a:rPr>
              <a:t>Trigger: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675887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File drop into input_zone/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02335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  <a:latin typeface="Arial"/>
              </a:rPr>
              <a:t>Output: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023359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&lt;filename&gt;_processed.csv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43708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  <a:latin typeface="Arial"/>
              </a:rPr>
              <a:t>Cloud: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370831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Azure container: inventory-output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3566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Arial"/>
              </a:rPr>
              <a:t>VS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5-stage pattern — same design for both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51560"/>
            <a:ext cx="2084831" cy="1645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" y="1143000"/>
            <a:ext cx="384048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" y="11521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563EB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20824"/>
            <a:ext cx="186537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1EAFF"/>
                </a:solidFill>
                <a:latin typeface="Arial"/>
              </a:rPr>
              <a:t>Loads raw data
into 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151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64748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1176" y="1051560"/>
            <a:ext cx="2084831" cy="1645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42616" y="1143000"/>
            <a:ext cx="384048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1521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EA5E9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0904" y="160020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2020824"/>
            <a:ext cx="186537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1EAFF"/>
                </a:solidFill>
                <a:latin typeface="Arial"/>
              </a:rPr>
              <a:t>Enforces rules
per 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64748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051560"/>
            <a:ext cx="2084831" cy="164592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37759" y="1143000"/>
            <a:ext cx="384048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1521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9688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60020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Processor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2020824"/>
            <a:ext cx="186537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1EAFF"/>
                </a:solidFill>
                <a:latin typeface="Arial"/>
              </a:rPr>
              <a:t>Removes cols
engineers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64748B"/>
                </a:solidFill>
                <a:latin typeface="Arial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41464" y="1051560"/>
            <a:ext cx="2084831" cy="1645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32903" y="1143000"/>
            <a:ext cx="384048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11521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1192" y="160020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Back-up
Validator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2020824"/>
            <a:ext cx="186537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1EAFF"/>
                </a:solidFill>
                <a:latin typeface="Arial"/>
              </a:rPr>
              <a:t>Sanity-checks
computed columns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64748B"/>
                </a:solidFill>
                <a:latin typeface="Arial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36607" y="1051560"/>
            <a:ext cx="2084831" cy="1645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28047" y="1143000"/>
            <a:ext cx="384048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7191" y="11521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6A34A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5" y="160020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Writer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46335" y="2020824"/>
            <a:ext cx="186537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1EAFF"/>
                </a:solidFill>
                <a:latin typeface="Arial"/>
              </a:rPr>
              <a:t>Saves locally
+ uploads Azure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" y="2880360"/>
            <a:ext cx="11676888" cy="3310128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2880360"/>
            <a:ext cx="5669280" cy="384048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9443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Part 1 — Batch (NYC Taxi)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2880360"/>
            <a:ext cx="5669280" cy="384048"/>
          </a:xfrm>
          <a:prstGeom prst="roundRect">
            <a:avLst/>
          </a:prstGeom>
          <a:solidFill>
            <a:srgbClr val="00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9443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Part 2 — Real-Time (Inventory)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33756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Input: yellow_tripdata_2025-01.parquet  (~3.4M rows)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Validator: 9 mandatory + 7 optional columns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Processor: removes 3 cols, adds 8 features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Back-up: speed ≤ 100 mph, duration &gt; 0, no Inf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Writer: .parquet + rejected CSVs + Azure upload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33756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Input: inventory_data.csv from input_zone/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Validator: 11-column rules (7 mandatory, 4 non-mandatory)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Processor: removes duplicates, adds 5 features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Back-up: schema = 16 cols, no neg. VAT, date logic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  <a:latin typeface="Arial"/>
              </a:rPr>
              <a:t>• Writer: .csv + archive step + Azure upload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53328" y="2971800"/>
            <a:ext cx="45720" cy="30632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Part 1 — 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NYC Yellow Taxi · January 2025 · Stacked chart shows row 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2743200" cy="13258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70432"/>
            <a:ext cx="2560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3,475,226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476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Raw Input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078992"/>
            <a:ext cx="2743200" cy="132588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170432"/>
            <a:ext cx="2560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3,326,500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9476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F7D0"/>
                </a:solidFill>
                <a:latin typeface="Arial"/>
              </a:rPr>
              <a:t>Final Gold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078992"/>
            <a:ext cx="2743200" cy="132588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70432"/>
            <a:ext cx="2560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148,726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19476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ECACA"/>
                </a:solidFill>
                <a:latin typeface="Arial"/>
              </a:rPr>
              <a:t>Total Rejected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2832" y="1078992"/>
            <a:ext cx="2999232" cy="13258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1170432"/>
            <a:ext cx="2816351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95.72%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1947672"/>
            <a:ext cx="281635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Data Retention Rate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56032" y="2578608"/>
          <a:ext cx="54864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989320" y="2578608"/>
            <a:ext cx="5943600" cy="114300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2578608"/>
            <a:ext cx="201168" cy="1143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26700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Arial"/>
              </a:rPr>
              <a:t>✔  Final 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03580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rial"/>
              </a:rPr>
              <a:t>3,326,500 rows  ·  95.72% of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3346703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Clean, enriched data — ready for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3931920"/>
            <a:ext cx="5943600" cy="114300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89320" y="3931920"/>
            <a:ext cx="201168" cy="1143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402335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Arial"/>
              </a:rPr>
              <a:t>✘  Rejected — Primary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43891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rial"/>
              </a:rPr>
              <a:t>148,302 rows  ·  4.27% of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470001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Business rule violations: invalid fares, bad dates, etc.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0" y="5285232"/>
            <a:ext cx="5943600" cy="114300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89320" y="5285232"/>
            <a:ext cx="201168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5376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Arial"/>
              </a:rPr>
              <a:t>⚠  Rejected — Back-up Validation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574243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rial"/>
              </a:rPr>
              <a:t>424 rows  ·  &lt; 0.02% of input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6053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Impossible values: speed &gt; 100 mph, zero duration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Part 1 —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Processor removes 3 columns and adds 8 new engineered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42415"/>
            <a:ext cx="11676888" cy="475488"/>
          </a:xfrm>
          <a:prstGeom prst="round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Arial"/>
              </a:rPr>
              <a:t>Columns removed:   VendorID   ·   store_and_fwd_flag   ·   RatecodeID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645920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45920"/>
            <a:ext cx="182880" cy="9692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19072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trip_duration_minutes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19072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103120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(dropoff − pickup).total_seconds / 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45920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645920"/>
            <a:ext cx="182880" cy="9692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719072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average_speed_mph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19072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Speed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103120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trip_distance ÷ (duration / 60)  — where duration &gt;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032" y="2706624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2706624"/>
            <a:ext cx="182880" cy="9692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2779776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pickup_year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2779776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Temporal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3163824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Year extracted from tpep_pickup_datetime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2706624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2706624"/>
            <a:ext cx="182880" cy="9692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2779776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pickup_month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2779776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Temporal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3163824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Month extracted from tpep_pickup_datetime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6032" y="3767328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3767328"/>
            <a:ext cx="182880" cy="9692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" y="3840480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revenue_per_mile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3840480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Financial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4224528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total_amount ÷ trip_distance  — where distance &gt; 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3767328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45352" y="3767328"/>
            <a:ext cx="182880" cy="9692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3840480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trip_distance_category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3840480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Category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4224528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Short &lt; 2 mi  ·  Medium 2–10 mi  ·  Long &gt; 10 mi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6032" y="4828032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6032" y="4828032"/>
            <a:ext cx="182880" cy="9692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" y="4901184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fare_category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" y="4901184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Category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" y="5285232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Low &lt; $20  ·  Medium $20–$50  ·  High &gt; $50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45352" y="4828032"/>
            <a:ext cx="5669280" cy="969264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5352" y="4828032"/>
            <a:ext cx="182880" cy="9692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4901184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trip_time_of_day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65392" y="4901184"/>
            <a:ext cx="5257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rial"/>
              </a:rPr>
              <a:t>Temporal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65392" y="5285232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Night 0–5h  ·  Morning 6–11h  ·  Afternoon 12–17h  ·  Evening 18–23h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Part 2 — Real-Time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Retail Inventory · File-drop trigger · 149 rows · 11 columns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42415"/>
            <a:ext cx="5715000" cy="5230368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  <a:latin typeface="Arial"/>
              </a:rPr>
              <a:t>Method A — Watchdog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508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Instant OS-level trigger  ·  ~1 second latency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920240"/>
            <a:ext cx="5303520" cy="8229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93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1.  File Drop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Copy .csv into input_zone/ from Finder or terminal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614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3063240"/>
            <a:ext cx="5303520" cy="8229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36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2.  Watchdog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204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watchdog library detects OS file-system event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9044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Arial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4206240"/>
            <a:ext cx="5303520" cy="82296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279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3.  Pipeline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6634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Full 5-stage pipeline executes automatically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504748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Arial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349240"/>
            <a:ext cx="5303520" cy="8229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4.  Output Written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064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CSV saved to output_zone/ + uploaded to Azure Blob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042415"/>
            <a:ext cx="5715000" cy="5230368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688"/>
                </a:solidFill>
                <a:latin typeface="Arial"/>
              </a:rPr>
              <a:t>Method B — Airflow DAG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1508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Production approach  ·  Polls input_zone/ every 5 minutes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1920240"/>
            <a:ext cx="5303520" cy="804672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8544" y="199339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check_for_files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38544" y="235915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ShortCircuitOperator — skips all tasks if no file present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743200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4748B"/>
                </a:solidFill>
                <a:latin typeface="Arial"/>
              </a:rPr>
              <a:t>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2962656"/>
            <a:ext cx="5303520" cy="8046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8544" y="303580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read → validate → process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38544" y="34015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Three core pipeline stages run sequentially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3785616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4748B"/>
                </a:solidFill>
                <a:latin typeface="Arial"/>
              </a:rPr>
              <a:t>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55664" y="4005072"/>
            <a:ext cx="5303520" cy="80467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8544" y="40782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backup_validate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4443983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Post-processing sanity checks on engineered columns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4828032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4748B"/>
                </a:solidFill>
                <a:latin typeface="Arial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5664" y="5047488"/>
            <a:ext cx="5303520" cy="80467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38544" y="51206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write_data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38544" y="548640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Local CSV saved + Azure Blob upload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5664" y="6089903"/>
            <a:ext cx="5303520" cy="8046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8544" y="6163055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archive_input_file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38544" y="6528815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EAFF"/>
                </a:solidFill>
                <a:latin typeface="Arial"/>
              </a:rPr>
              <a:t>File moved to archived/ — never processed twice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Part 2 —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Processor adds 5 new columns  ·  Final schema: 11 original + 5 engineered = 16 columns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11676888" cy="86868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078992"/>
            <a:ext cx="201168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704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rial"/>
              </a:rPr>
              <a:t>Vat_Amount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Arial"/>
              </a:rPr>
              <a:t>Financial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819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Arial"/>
              </a:rPr>
              <a:t>Total Spent × 21%  (standard EU VAT rate)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" y="2075687"/>
            <a:ext cx="11676888" cy="86868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075687"/>
            <a:ext cx="201168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rial"/>
              </a:rPr>
              <a:t>Is_Bulk_Order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67127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Arial"/>
              </a:rPr>
              <a:t>Flag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78607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Arial"/>
              </a:rPr>
              <a:t>True if Quantity ≥ 10  —  flags large-volume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" y="3072383"/>
            <a:ext cx="11676888" cy="86868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072383"/>
            <a:ext cx="201168" cy="868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16382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rial"/>
              </a:rPr>
              <a:t>Customer_Segment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163823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Arial"/>
              </a:rPr>
              <a:t>Segmentation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575303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Arial"/>
              </a:rPr>
              <a:t>Premium &gt; $200  ·  Mid-Tier &gt; $100  ·  Standard (all others)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6032" y="4069079"/>
            <a:ext cx="11676888" cy="86868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069079"/>
            <a:ext cx="201168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16051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rial"/>
              </a:rPr>
              <a:t>Estimated_Delivery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60519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Arial"/>
              </a:rPr>
              <a:t>Logistics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571999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Arial"/>
              </a:rPr>
              <a:t>Transaction Date + 3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" y="5065775"/>
            <a:ext cx="11676888" cy="86868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6032" y="5065775"/>
            <a:ext cx="201168" cy="8686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15721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rial"/>
              </a:rPr>
              <a:t>Order_Reference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157215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Arial"/>
              </a:rPr>
              <a:t>Lookup 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568695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Arial"/>
              </a:rPr>
              <a:t>CustomerID  +  '-'  +  LOCATION  (e.g. CUST_09-ONLINE)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" y="6062471"/>
            <a:ext cx="11676888" cy="56692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6117335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Arial"/>
              </a:rPr>
              <a:t>Back-up Validator checks: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6117335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rial"/>
              </a:rPr>
              <a:t>no nulls in new cols  ·  VAT ≥ 0  ·  delivery date after transaction date  ·  schema = exactly 16 columns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0350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  <a:latin typeface="Arial"/>
              </a:rPr>
              <a:t>Docker Compose · Apache Airflow · Azure Blob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789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Arial"/>
              </a:rPr>
              <a:t>Docker Compose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36192"/>
            <a:ext cx="5577840" cy="987552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36192"/>
            <a:ext cx="182880" cy="9875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627632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postgres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029967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Airflow metadata DB — stores DAG runs, task states, logs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2651760"/>
            <a:ext cx="5577840" cy="987552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651760"/>
            <a:ext cx="182880" cy="9875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743200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airflow-scheduler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14553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Triggers tasks on schedule — health-checked every 30s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767328"/>
            <a:ext cx="5577840" cy="987552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67328"/>
            <a:ext cx="182880" cy="9875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5876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Arial"/>
              </a:rPr>
              <a:t>airflow-webserver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26110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UI at http://localhost:8080 — monitor, trigger, view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82896"/>
            <a:ext cx="5577840" cy="7498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74336"/>
            <a:ext cx="5303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Volume mounts share local files into Docker — drop a file locally,
Airflow inside the container sees it instantly.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051560"/>
            <a:ext cx="45720" cy="52578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0789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Arial"/>
              </a:rPr>
              <a:t>Azure Blob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1536192"/>
            <a:ext cx="5413248" cy="123444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3952" y="1536192"/>
            <a:ext cx="182880" cy="1234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162763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Arial"/>
              </a:rPr>
              <a:t>taxiproject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20116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235915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processed_taxi_data.parquet + rejected CSVs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3952" y="2926080"/>
            <a:ext cx="5413248" cy="1234440"/>
          </a:xfrm>
          <a:prstGeom prst="roundRect">
            <a:avLst/>
          </a:prstGeom>
          <a:solidFill>
            <a:srgbClr val="F1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3952" y="2926080"/>
            <a:ext cx="182880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4848" y="30175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Arial"/>
              </a:rPr>
              <a:t>inventory-output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34015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37490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&lt;filename&gt;_processed.csv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4315968"/>
            <a:ext cx="5413248" cy="137160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4256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Credentials &amp; 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736592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Arial"/>
              </a:rPr>
              <a:t>• AZURE_STORAGE_CONNECTION_STRING stored in .env files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Arial"/>
              </a:rPr>
              <a:t>• Loaded at runtime by python-dotenv — never hardcoded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Arial"/>
              </a:rPr>
              <a:t>• Containers created automatically on first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731520"/>
            <a:ext cx="4114800" cy="4114800"/>
          </a:xfrm>
          <a:prstGeom prst="ellipse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4389120"/>
            <a:ext cx="3200400" cy="3200400"/>
          </a:xfrm>
          <a:prstGeom prst="ellipse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Key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87552"/>
            <a:ext cx="3474720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07008"/>
            <a:ext cx="2697480" cy="2514600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6A34A"/>
                </a:solidFill>
                <a:latin typeface="Arial"/>
              </a:rPr>
              <a:t>3.4M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3C5FD"/>
                </a:solidFill>
                <a:latin typeface="Arial"/>
              </a:rPr>
              <a:t>rows processed
Part 1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07008"/>
            <a:ext cx="2697480" cy="2514600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298448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2563EB"/>
                </a:solidFill>
                <a:latin typeface="Arial"/>
              </a:rPr>
              <a:t>95.72%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3C5FD"/>
                </a:solidFill>
                <a:latin typeface="Arial"/>
              </a:rPr>
              <a:t>data retention
rate — Part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207008"/>
            <a:ext cx="2697480" cy="2514600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EA5E9"/>
                </a:solidFill>
                <a:latin typeface="Arial"/>
              </a:rPr>
              <a:t> &lt;1 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2316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3C5FD"/>
                </a:solidFill>
                <a:latin typeface="Arial"/>
              </a:rPr>
              <a:t>trigger latency
watcher — Part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207008"/>
            <a:ext cx="2697480" cy="2514600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298448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D97706"/>
                </a:solidFill>
                <a:latin typeface="Arial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42316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3C5FD"/>
                </a:solidFill>
                <a:latin typeface="Arial"/>
              </a:rPr>
              <a:t>final columns
after Part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2231136" cy="1417320"/>
          </a:xfrm>
          <a:prstGeom prst="round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0873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 Pipelines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5079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Batch + Real-Time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3977639"/>
            <a:ext cx="2231136" cy="1417320"/>
          </a:xfrm>
          <a:prstGeom prst="round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16936" y="40873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Dual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6936" y="45079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Primary + Back-up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57216" y="3977639"/>
            <a:ext cx="2231136" cy="1417320"/>
          </a:xfrm>
          <a:prstGeom prst="round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0873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Full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45079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Rejected rows saved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07223" y="3977639"/>
            <a:ext cx="2231136" cy="1417320"/>
          </a:xfrm>
          <a:prstGeom prst="round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6951" y="40873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Cloud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1" y="45079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Azure Blob output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7232" y="3977639"/>
            <a:ext cx="2231136" cy="1417320"/>
          </a:xfrm>
          <a:prstGeom prst="roundRect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59" y="40873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079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3C5FD"/>
                </a:solidFill>
                <a:latin typeface="Arial"/>
              </a:rPr>
              <a:t>Apache Airflow DAGs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562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Arial"/>
              </a:rPr>
              <a:t>Salina Giri  ·  Data Engineering  ·  Year 2 Semester 2  ·  5 May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914400"/>
            <a:ext cx="4754880" cy="4754880"/>
          </a:xfrm>
          <a:prstGeom prst="ellipse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754880"/>
            <a:ext cx="3474720" cy="3474720"/>
          </a:xfrm>
          <a:prstGeom prst="ellipse">
            <a:avLst/>
          </a:prstGeom>
          <a:solidFill>
            <a:srgbClr val="13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423160"/>
            <a:ext cx="448056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3347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60A5FA"/>
                </a:solidFill>
                <a:latin typeface="Arial"/>
              </a:rPr>
              <a:t>Questions?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493008"/>
            <a:ext cx="4297680" cy="713232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0" y="3493008"/>
            <a:ext cx="164592" cy="7132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35661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Airflow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89534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  <a:latin typeface="Arial"/>
              </a:rPr>
              <a:t>http://localhost:8080  (admin / admin)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93008"/>
            <a:ext cx="4297680" cy="713232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3493008"/>
            <a:ext cx="164592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661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Part 1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9534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  <a:latin typeface="Arial"/>
              </a:rPr>
              <a:t>part_1_batch_processing/output/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45920" y="4389120"/>
            <a:ext cx="4297680" cy="713232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45920" y="4389120"/>
            <a:ext cx="164592" cy="7132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44622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Part 2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7914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  <a:latin typeface="Arial"/>
              </a:rPr>
              <a:t>part_2_real_time_processing/output_zone/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389120"/>
            <a:ext cx="4297680" cy="713232"/>
          </a:xfrm>
          <a:prstGeom prst="round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389120"/>
            <a:ext cx="164592" cy="7132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622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914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3C5FD"/>
                </a:solidFill>
                <a:latin typeface="Arial"/>
              </a:rPr>
              <a:t>SalinaGiriUCLL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Arial"/>
              </a:rPr>
              <a:t>See VALIDATION_RULES.md for full column rules  ·  See DEFENCE.md for Q&amp;A preparation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